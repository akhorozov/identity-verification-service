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notesSlides/notesSlide11.xml" ContentType="application/vnd.openxmlformats-officedocument.presentationml.notes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2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2" d="100"/>
          <a:sy n="162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3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18" Type="http://schemas.openxmlformats.org/officeDocument/2006/relationships/image" Target="../media/image2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19" Type="http://schemas.openxmlformats.org/officeDocument/2006/relationships/image" Target="../media/image30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Relationship Id="rId14" Type="http://schemas.openxmlformats.org/officeDocument/2006/relationships/image" Target="../media/image4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svg"/><Relationship Id="rId11" Type="http://schemas.openxmlformats.org/officeDocument/2006/relationships/image" Target="../media/image65.svg"/><Relationship Id="rId5" Type="http://schemas.openxmlformats.org/officeDocument/2006/relationships/image" Target="../media/image59.sv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Relationship Id="rId9" Type="http://schemas.openxmlformats.org/officeDocument/2006/relationships/image" Target="../media/image7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5" Type="http://schemas.openxmlformats.org/officeDocument/2006/relationships/image" Target="../media/image77.svg"/><Relationship Id="rId10" Type="http://schemas.openxmlformats.org/officeDocument/2006/relationships/image" Target="../media/image82.svg"/><Relationship Id="rId4" Type="http://schemas.openxmlformats.org/officeDocument/2006/relationships/image" Target="../media/image76.svg"/><Relationship Id="rId9" Type="http://schemas.openxmlformats.org/officeDocument/2006/relationships/image" Target="../media/image8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>
                  <a:alpha val="97000"/>
                </a:srgbClr>
              </a:gs>
              <a:gs pos="45000">
                <a:srgbClr val="0F172A">
                  <a:alpha val="93000"/>
                </a:srgbClr>
              </a:gs>
              <a:gs pos="75000">
                <a:srgbClr val="0F172A">
                  <a:alpha val="70000"/>
                </a:srgbClr>
              </a:gs>
              <a:gs pos="100000">
                <a:srgbClr val="0F172A">
                  <a:alpha val="5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42780" y="0"/>
            <a:ext cx="3572470" cy="3000970"/>
          </a:xfrm>
          <a:prstGeom prst="rect">
            <a:avLst/>
          </a:prstGeom>
          <a:gradFill rotWithShape="1">
            <a:gsLst>
              <a:gs pos="0">
                <a:srgbClr val="3B82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40000">
                <a:srgbClr val="3B82F6">
                  <a:alpha val="30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0975" y="2185988"/>
            <a:ext cx="300038" cy="3000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2463" y="2185988"/>
            <a:ext cx="300038" cy="30003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0975" y="2657475"/>
            <a:ext cx="300038" cy="30003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2463" y="2657475"/>
            <a:ext cx="300038" cy="3000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3B82F6">
                  <a:alpha val="20000"/>
                </a:srgbClr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571500" y="1236315"/>
            <a:ext cx="1944291" cy="268813"/>
          </a:xfrm>
          <a:prstGeom prst="roundRect">
            <a:avLst>
              <a:gd name="adj" fmla="val 16063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MICROSERVICE</a:t>
            </a:r>
            <a:endParaRPr lang="en-US" sz="73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610" y="1292135"/>
            <a:ext cx="132588" cy="132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1500" y="1681311"/>
            <a:ext cx="546527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69"/>
              </a:lnSpc>
              <a:spcAft>
                <a:spcPts val="340"/>
              </a:spcAft>
              <a:buNone/>
            </a:pPr>
            <a:r>
              <a:rPr lang="en-US" sz="3490" kern="0" spc="-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Address Validation</a:t>
            </a:r>
            <a:br/>
            <a:r>
              <a:rPr lang="en-US" sz="3490" kern="0" spc="-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490" b="1" kern="0" spc="-6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Proxy Service</a:t>
            </a:r>
            <a:endParaRPr lang="en-US" sz="3490" dirty="0"/>
          </a:p>
        </p:txBody>
      </p:sp>
      <p:sp>
        <p:nvSpPr>
          <p:cNvPr id="13" name="Text 6"/>
          <p:cNvSpPr/>
          <p:nvPr/>
        </p:nvSpPr>
        <p:spPr>
          <a:xfrm>
            <a:off x="571500" y="2853184"/>
            <a:ext cx="571500" cy="29170"/>
          </a:xfrm>
          <a:prstGeom prst="roundRect">
            <a:avLst>
              <a:gd name="adj" fmla="val 47892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571500" y="3053804"/>
            <a:ext cx="8801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2250"/>
              </a:spcAft>
              <a:buNone/>
            </a:pPr>
            <a:r>
              <a:rPr lang="en-US" sz="1350" kern="0" spc="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Kick-off — May 2026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71500" y="3609082"/>
            <a:ext cx="285750" cy="314325"/>
          </a:xfrm>
          <a:prstGeom prst="ellipse">
            <a:avLst/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943570" y="3596729"/>
            <a:ext cx="1700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Alex Khorozov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943570" y="3768179"/>
            <a:ext cx="170013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57200" y="568226"/>
            <a:ext cx="88056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spcAft>
                <a:spcPts val="340"/>
              </a:spcAft>
              <a:buNone/>
            </a:pPr>
            <a:r>
              <a:rPr lang="en-US" sz="225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Project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939998"/>
            <a:ext cx="400050" cy="29170"/>
          </a:xfrm>
          <a:prstGeom prst="roundRect">
            <a:avLst>
              <a:gd name="adj" fmla="val 47892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97769"/>
            <a:ext cx="4043065" cy="1729680"/>
          </a:xfrm>
          <a:prstGeom prst="roundRect">
            <a:avLst>
              <a:gd name="adj" fmla="val 499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197769"/>
            <a:ext cx="28575" cy="1729680"/>
          </a:xfrm>
          <a:custGeom>
            <a:avLst/>
            <a:gdLst/>
            <a:ahLst/>
            <a:cxnLst/>
            <a:rect l="l" t="t" r="r" b="b"/>
            <a:pathLst>
              <a:path w="28575" h="172968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07499"/>
                </a:lnTo>
                <a:lnTo>
                  <a:pt x="25003" y="1704094"/>
                </a:lnTo>
                <a:lnTo>
                  <a:pt x="21431" y="1700262"/>
                </a:lnTo>
                <a:lnTo>
                  <a:pt x="17859" y="1695911"/>
                </a:lnTo>
                <a:lnTo>
                  <a:pt x="14288" y="1690898"/>
                </a:lnTo>
                <a:lnTo>
                  <a:pt x="10716" y="1684986"/>
                </a:lnTo>
                <a:lnTo>
                  <a:pt x="7144" y="1677713"/>
                </a:lnTo>
                <a:lnTo>
                  <a:pt x="3572" y="1667900"/>
                </a:lnTo>
                <a:lnTo>
                  <a:pt x="0" y="164332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6395" y="135522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123" y="1465957"/>
            <a:ext cx="150465" cy="1504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1936" y="1355229"/>
            <a:ext cx="34074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$20+ Lost Per Failed Delivery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1201936" y="1560909"/>
            <a:ext cx="3159663" cy="48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errors from invalid addresses cost enterprises over $20 per failed delivery in return logistics, re-shipment, and customer service overhead.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643735" y="1197769"/>
            <a:ext cx="4043065" cy="1729680"/>
          </a:xfrm>
          <a:prstGeom prst="roundRect">
            <a:avLst>
              <a:gd name="adj" fmla="val 499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43735" y="1197769"/>
            <a:ext cx="28575" cy="1729680"/>
          </a:xfrm>
          <a:custGeom>
            <a:avLst/>
            <a:gdLst/>
            <a:ahLst/>
            <a:cxnLst/>
            <a:rect l="l" t="t" r="r" b="b"/>
            <a:pathLst>
              <a:path w="28575" h="172968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07499"/>
                </a:lnTo>
                <a:lnTo>
                  <a:pt x="25003" y="1704094"/>
                </a:lnTo>
                <a:lnTo>
                  <a:pt x="21431" y="1700262"/>
                </a:lnTo>
                <a:lnTo>
                  <a:pt x="17859" y="1695911"/>
                </a:lnTo>
                <a:lnTo>
                  <a:pt x="14288" y="1690898"/>
                </a:lnTo>
                <a:lnTo>
                  <a:pt x="10716" y="1684986"/>
                </a:lnTo>
                <a:lnTo>
                  <a:pt x="7144" y="1677713"/>
                </a:lnTo>
                <a:lnTo>
                  <a:pt x="3572" y="1667900"/>
                </a:lnTo>
                <a:lnTo>
                  <a:pt x="0" y="164332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72930" y="135522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659" y="1465957"/>
            <a:ext cx="150465" cy="1504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8471" y="1355229"/>
            <a:ext cx="34074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CASS Certification Required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5388471" y="1560909"/>
            <a:ext cx="3159663" cy="48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standards mandate CASS-certified address validation for bulk mailers to qualify for postal discounts and ensure deliverability.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457200" y="3070920"/>
            <a:ext cx="4043065" cy="1729680"/>
          </a:xfrm>
          <a:prstGeom prst="roundRect">
            <a:avLst>
              <a:gd name="adj" fmla="val 499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" y="3070920"/>
            <a:ext cx="28575" cy="1729680"/>
          </a:xfrm>
          <a:custGeom>
            <a:avLst/>
            <a:gdLst/>
            <a:ahLst/>
            <a:cxnLst/>
            <a:rect l="l" t="t" r="r" b="b"/>
            <a:pathLst>
              <a:path w="28575" h="172968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07499"/>
                </a:lnTo>
                <a:lnTo>
                  <a:pt x="25003" y="1704094"/>
                </a:lnTo>
                <a:lnTo>
                  <a:pt x="21431" y="1700262"/>
                </a:lnTo>
                <a:lnTo>
                  <a:pt x="17859" y="1695911"/>
                </a:lnTo>
                <a:lnTo>
                  <a:pt x="14288" y="1690898"/>
                </a:lnTo>
                <a:lnTo>
                  <a:pt x="10716" y="1684986"/>
                </a:lnTo>
                <a:lnTo>
                  <a:pt x="7144" y="1677713"/>
                </a:lnTo>
                <a:lnTo>
                  <a:pt x="3572" y="1667900"/>
                </a:lnTo>
                <a:lnTo>
                  <a:pt x="0" y="164332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86395" y="322838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123" y="3339108"/>
            <a:ext cx="150465" cy="1504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1936" y="3228380"/>
            <a:ext cx="34074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&amp; Cost Duplication</a:t>
            </a:r>
            <a:endParaRPr lang="en-US" sz="1070" dirty="0"/>
          </a:p>
        </p:txBody>
      </p:sp>
      <p:sp>
        <p:nvSpPr>
          <p:cNvPr id="22" name="Text 17"/>
          <p:cNvSpPr/>
          <p:nvPr/>
        </p:nvSpPr>
        <p:spPr>
          <a:xfrm>
            <a:off x="1201936" y="3434060"/>
            <a:ext cx="3159663" cy="48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Smarty API calls scattered across multiple services create tight vendor coupling and duplicate subscription costs with no shared caching.</a:t>
            </a:r>
            <a:endParaRPr lang="en-US" sz="840" dirty="0"/>
          </a:p>
        </p:txBody>
      </p:sp>
      <p:sp>
        <p:nvSpPr>
          <p:cNvPr id="23" name="Text 18"/>
          <p:cNvSpPr/>
          <p:nvPr/>
        </p:nvSpPr>
        <p:spPr>
          <a:xfrm>
            <a:off x="4643735" y="3070920"/>
            <a:ext cx="4043065" cy="1729680"/>
          </a:xfrm>
          <a:prstGeom prst="roundRect">
            <a:avLst>
              <a:gd name="adj" fmla="val 4993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643735" y="3070920"/>
            <a:ext cx="28575" cy="1729680"/>
          </a:xfrm>
          <a:custGeom>
            <a:avLst/>
            <a:gdLst/>
            <a:ahLst/>
            <a:cxnLst/>
            <a:rect l="l" t="t" r="r" b="b"/>
            <a:pathLst>
              <a:path w="28575" h="172968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07499"/>
                </a:lnTo>
                <a:lnTo>
                  <a:pt x="25003" y="1704094"/>
                </a:lnTo>
                <a:lnTo>
                  <a:pt x="21431" y="1700262"/>
                </a:lnTo>
                <a:lnTo>
                  <a:pt x="17859" y="1695911"/>
                </a:lnTo>
                <a:lnTo>
                  <a:pt x="14288" y="1690898"/>
                </a:lnTo>
                <a:lnTo>
                  <a:pt x="10716" y="1684986"/>
                </a:lnTo>
                <a:lnTo>
                  <a:pt x="7144" y="1677713"/>
                </a:lnTo>
                <a:lnTo>
                  <a:pt x="3572" y="1667900"/>
                </a:lnTo>
                <a:lnTo>
                  <a:pt x="0" y="164332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872930" y="322838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3659" y="3339108"/>
            <a:ext cx="150465" cy="15046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88471" y="3228380"/>
            <a:ext cx="34074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 Quality Across Systems</a:t>
            </a:r>
            <a:endParaRPr lang="en-US" sz="1070" dirty="0"/>
          </a:p>
        </p:txBody>
      </p:sp>
      <p:sp>
        <p:nvSpPr>
          <p:cNvPr id="28" name="Text 22"/>
          <p:cNvSpPr/>
          <p:nvPr/>
        </p:nvSpPr>
        <p:spPr>
          <a:xfrm>
            <a:off x="5388471" y="3434060"/>
            <a:ext cx="3159663" cy="48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centralized validation layer, each system applies different rules — leading to mismatched address formats, duplicate records, and downstream errors.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88174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457200" y="561082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96962"/>
            <a:ext cx="88056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spcAft>
                <a:spcPts val="340"/>
              </a:spcAft>
              <a:buNone/>
            </a:pPr>
            <a:r>
              <a:rPr lang="en-US" sz="225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Vision &amp; Objectives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1068735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and the value it delivers across the enterprise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457200" y="1537246"/>
            <a:ext cx="4029075" cy="1642318"/>
          </a:xfrm>
          <a:prstGeom prst="roundRect">
            <a:avLst>
              <a:gd name="adj" fmla="val 696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795016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518" y="1919734"/>
            <a:ext cx="150465" cy="1504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38536"/>
            <a:ext cx="1711434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75"/>
              </a:lnSpc>
              <a:spcAft>
                <a:spcPts val="560"/>
              </a:spcAft>
              <a:buNone/>
            </a:pPr>
            <a:r>
              <a:rPr lang="en-US" sz="118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Centralized Validation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685800" y="2596753"/>
            <a:ext cx="3643313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proxy service for all internal consumers — e-commerce checkout, CRM, shipping modules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57725" y="1537246"/>
            <a:ext cx="4029075" cy="1642318"/>
          </a:xfrm>
          <a:prstGeom prst="roundRect">
            <a:avLst>
              <a:gd name="adj" fmla="val 696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86325" y="1795016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1043" y="1919734"/>
            <a:ext cx="150465" cy="1504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86325" y="2338536"/>
            <a:ext cx="1409060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75"/>
              </a:lnSpc>
              <a:spcAft>
                <a:spcPts val="560"/>
              </a:spcAft>
              <a:buNone/>
            </a:pPr>
            <a:r>
              <a:rPr lang="en-US" sz="118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Optimization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4886325" y="2596753"/>
            <a:ext cx="3643313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caching (Redis + CosmosDB) to reduce Smarty API calls by 70–85%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3351014"/>
            <a:ext cx="4029075" cy="1642318"/>
          </a:xfrm>
          <a:prstGeom prst="roundRect">
            <a:avLst>
              <a:gd name="adj" fmla="val 696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85800" y="3608784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518" y="3733502"/>
            <a:ext cx="150465" cy="1504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" y="4152305"/>
            <a:ext cx="1949470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75"/>
              </a:lnSpc>
              <a:spcAft>
                <a:spcPts val="560"/>
              </a:spcAft>
              <a:buNone/>
            </a:pPr>
            <a:r>
              <a:rPr lang="en-US" sz="118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Enterprise-Grade Quality</a:t>
            </a:r>
            <a:endParaRPr lang="en-US" sz="1180" dirty="0"/>
          </a:p>
        </p:txBody>
      </p:sp>
      <p:sp>
        <p:nvSpPr>
          <p:cNvPr id="20" name="Text 15"/>
          <p:cNvSpPr/>
          <p:nvPr/>
        </p:nvSpPr>
        <p:spPr>
          <a:xfrm>
            <a:off x="685800" y="4410521"/>
            <a:ext cx="3738830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CASS-certified, DPV-verified addresses with geocoding enrichment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657725" y="3351014"/>
            <a:ext cx="4029075" cy="1642318"/>
          </a:xfrm>
          <a:prstGeom prst="roundRect">
            <a:avLst>
              <a:gd name="adj" fmla="val 696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886325" y="3608784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1043" y="3733502"/>
            <a:ext cx="150465" cy="1504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86325" y="4152305"/>
            <a:ext cx="1412498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75"/>
              </a:lnSpc>
              <a:spcAft>
                <a:spcPts val="560"/>
              </a:spcAft>
              <a:buNone/>
            </a:pPr>
            <a:r>
              <a:rPr lang="en-US" sz="118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Provider Agnostic</a:t>
            </a:r>
            <a:endParaRPr lang="en-US" sz="1180" dirty="0"/>
          </a:p>
        </p:txBody>
      </p:sp>
      <p:sp>
        <p:nvSpPr>
          <p:cNvPr id="25" name="Text 19"/>
          <p:cNvSpPr/>
          <p:nvPr/>
        </p:nvSpPr>
        <p:spPr>
          <a:xfrm>
            <a:off x="4886325" y="4410521"/>
            <a:ext cx="3643313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Interface-based abstraction enables future provider swap without core changes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1537246"/>
            <a:ext cx="4029075" cy="21580"/>
          </a:xfrm>
          <a:custGeom>
            <a:avLst/>
            <a:gdLst/>
            <a:ahLst/>
            <a:cxnLst/>
            <a:rect l="l" t="t" r="r" b="b"/>
            <a:pathLst>
              <a:path w="4029075" h="21580">
                <a:moveTo>
                  <a:pt x="114300" y="0"/>
                </a:moveTo>
                <a:lnTo>
                  <a:pt x="3914775" y="0"/>
                </a:lnTo>
                <a:lnTo>
                  <a:pt x="3939460" y="2698"/>
                </a:lnTo>
                <a:lnTo>
                  <a:pt x="3949476" y="5395"/>
                </a:lnTo>
                <a:lnTo>
                  <a:pt x="3957018" y="8093"/>
                </a:lnTo>
                <a:lnTo>
                  <a:pt x="3963254" y="10790"/>
                </a:lnTo>
                <a:lnTo>
                  <a:pt x="3968639" y="13488"/>
                </a:lnTo>
                <a:lnTo>
                  <a:pt x="3973409" y="16185"/>
                </a:lnTo>
                <a:lnTo>
                  <a:pt x="3977703" y="18883"/>
                </a:lnTo>
                <a:lnTo>
                  <a:pt x="398161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4657725" y="1537246"/>
            <a:ext cx="4029075" cy="21580"/>
          </a:xfrm>
          <a:custGeom>
            <a:avLst/>
            <a:gdLst/>
            <a:ahLst/>
            <a:cxnLst/>
            <a:rect l="l" t="t" r="r" b="b"/>
            <a:pathLst>
              <a:path w="4029075" h="21580">
                <a:moveTo>
                  <a:pt x="114300" y="0"/>
                </a:moveTo>
                <a:lnTo>
                  <a:pt x="3914775" y="0"/>
                </a:lnTo>
                <a:lnTo>
                  <a:pt x="3939460" y="2698"/>
                </a:lnTo>
                <a:lnTo>
                  <a:pt x="3949476" y="5395"/>
                </a:lnTo>
                <a:lnTo>
                  <a:pt x="3957018" y="8093"/>
                </a:lnTo>
                <a:lnTo>
                  <a:pt x="3963254" y="10790"/>
                </a:lnTo>
                <a:lnTo>
                  <a:pt x="3968639" y="13488"/>
                </a:lnTo>
                <a:lnTo>
                  <a:pt x="3973409" y="16185"/>
                </a:lnTo>
                <a:lnTo>
                  <a:pt x="3977703" y="18883"/>
                </a:lnTo>
                <a:lnTo>
                  <a:pt x="398161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57200" y="3351014"/>
            <a:ext cx="4029075" cy="21580"/>
          </a:xfrm>
          <a:custGeom>
            <a:avLst/>
            <a:gdLst/>
            <a:ahLst/>
            <a:cxnLst/>
            <a:rect l="l" t="t" r="r" b="b"/>
            <a:pathLst>
              <a:path w="4029075" h="21580">
                <a:moveTo>
                  <a:pt x="114300" y="0"/>
                </a:moveTo>
                <a:lnTo>
                  <a:pt x="3914775" y="0"/>
                </a:lnTo>
                <a:lnTo>
                  <a:pt x="3939460" y="2698"/>
                </a:lnTo>
                <a:lnTo>
                  <a:pt x="3949476" y="5395"/>
                </a:lnTo>
                <a:lnTo>
                  <a:pt x="3957018" y="8093"/>
                </a:lnTo>
                <a:lnTo>
                  <a:pt x="3963254" y="10790"/>
                </a:lnTo>
                <a:lnTo>
                  <a:pt x="3968639" y="13488"/>
                </a:lnTo>
                <a:lnTo>
                  <a:pt x="3973409" y="16185"/>
                </a:lnTo>
                <a:lnTo>
                  <a:pt x="3977703" y="18883"/>
                </a:lnTo>
                <a:lnTo>
                  <a:pt x="398161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657725" y="3351014"/>
            <a:ext cx="4029075" cy="21580"/>
          </a:xfrm>
          <a:custGeom>
            <a:avLst/>
            <a:gdLst/>
            <a:ahLst/>
            <a:cxnLst/>
            <a:rect l="l" t="t" r="r" b="b"/>
            <a:pathLst>
              <a:path w="4029075" h="21580">
                <a:moveTo>
                  <a:pt x="114300" y="0"/>
                </a:moveTo>
                <a:lnTo>
                  <a:pt x="3914775" y="0"/>
                </a:lnTo>
                <a:lnTo>
                  <a:pt x="3939460" y="2698"/>
                </a:lnTo>
                <a:lnTo>
                  <a:pt x="3949476" y="5395"/>
                </a:lnTo>
                <a:lnTo>
                  <a:pt x="3957018" y="8093"/>
                </a:lnTo>
                <a:lnTo>
                  <a:pt x="3963254" y="10790"/>
                </a:lnTo>
                <a:lnTo>
                  <a:pt x="3968639" y="13488"/>
                </a:lnTo>
                <a:lnTo>
                  <a:pt x="3973409" y="16185"/>
                </a:lnTo>
                <a:lnTo>
                  <a:pt x="3977703" y="18883"/>
                </a:lnTo>
                <a:lnTo>
                  <a:pt x="398161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4258"/>
            <a:ext cx="43160" cy="314920"/>
          </a:xfrm>
          <a:prstGeom prst="roundRect">
            <a:avLst>
              <a:gd name="adj" fmla="val 50023"/>
            </a:avLst>
          </a:pr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4660" y="342900"/>
            <a:ext cx="292598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-22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Scope Definition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14660" y="800695"/>
            <a:ext cx="30080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spcBef>
                <a:spcPts val="230"/>
              </a:spcBef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boundaries for the Address Validation Proxy Service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457200" y="1161306"/>
            <a:ext cx="3879205" cy="3696444"/>
          </a:xfrm>
          <a:prstGeom prst="roundRect">
            <a:avLst>
              <a:gd name="adj" fmla="val 2336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325" y="1707952"/>
            <a:ext cx="3402955" cy="9525"/>
          </a:xfrm>
          <a:prstGeom prst="rect">
            <a:avLst/>
          </a:prstGeom>
          <a:solidFill>
            <a:srgbClr val="22C55E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1419969"/>
            <a:ext cx="139005" cy="139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321" y="1371451"/>
            <a:ext cx="74897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25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Scope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1657201" y="1408956"/>
            <a:ext cx="491877" cy="177299"/>
          </a:xfrm>
          <a:prstGeom prst="roundRect">
            <a:avLst>
              <a:gd name="adj" fmla="val 80943"/>
            </a:avLst>
          </a:prstGeom>
          <a:solidFill>
            <a:srgbClr val="22C55E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ITEMS</a:t>
            </a:r>
            <a:endParaRPr lang="en-US" sz="62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102" y="1921306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788" y="1925687"/>
            <a:ext cx="163825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single address validation</a:t>
            </a:r>
            <a:endParaRPr lang="en-US" sz="93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102" y="2222087"/>
            <a:ext cx="132588" cy="132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7788" y="2226469"/>
            <a:ext cx="2215664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validation (up to 100 addresses)</a:t>
            </a:r>
            <a:endParaRPr lang="en-US" sz="93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102" y="2522869"/>
            <a:ext cx="132588" cy="132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7788" y="2527250"/>
            <a:ext cx="256502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caching (Redis L1 + CosmosDB L2)</a:t>
            </a:r>
            <a:endParaRPr lang="en-US" sz="93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102" y="2823651"/>
            <a:ext cx="132588" cy="132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7788" y="2828032"/>
            <a:ext cx="1176427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 sourcing</a:t>
            </a:r>
            <a:endParaRPr lang="en-US" sz="93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102" y="3124432"/>
            <a:ext cx="132588" cy="132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77788" y="3128814"/>
            <a:ext cx="233058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&amp; Prometheus metrics</a:t>
            </a:r>
            <a:endParaRPr lang="en-US" sz="93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102" y="3425214"/>
            <a:ext cx="132588" cy="132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77788" y="3429595"/>
            <a:ext cx="247530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Header-based API versioning (Api-Version)</a:t>
            </a:r>
            <a:endParaRPr lang="en-US" sz="93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7102" y="3725995"/>
            <a:ext cx="132588" cy="132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77788" y="3730377"/>
            <a:ext cx="147208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 layer</a:t>
            </a:r>
            <a:endParaRPr lang="en-US" sz="93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7102" y="4026777"/>
            <a:ext cx="132588" cy="132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77788" y="4031159"/>
            <a:ext cx="3284902" cy="35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Interactive Server + Fluent UI operations dashboard (7 pages)</a:t>
            </a:r>
            <a:endParaRPr lang="en-US" sz="93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102" y="4498860"/>
            <a:ext cx="132588" cy="1325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877788" y="4503241"/>
            <a:ext cx="1702757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 via SignalR</a:t>
            </a:r>
            <a:endParaRPr lang="en-US" sz="930" dirty="0"/>
          </a:p>
        </p:txBody>
      </p:sp>
      <p:sp>
        <p:nvSpPr>
          <p:cNvPr id="28" name="Text 16"/>
          <p:cNvSpPr/>
          <p:nvPr/>
        </p:nvSpPr>
        <p:spPr>
          <a:xfrm>
            <a:off x="4565005" y="1161306"/>
            <a:ext cx="13841" cy="3696444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7"/>
          <p:cNvSpPr/>
          <p:nvPr/>
        </p:nvSpPr>
        <p:spPr>
          <a:xfrm>
            <a:off x="4807446" y="1161306"/>
            <a:ext cx="3879354" cy="3696444"/>
          </a:xfrm>
          <a:prstGeom prst="roundRect">
            <a:avLst>
              <a:gd name="adj" fmla="val 2336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18"/>
          <p:cNvSpPr/>
          <p:nvPr/>
        </p:nvSpPr>
        <p:spPr>
          <a:xfrm>
            <a:off x="5045571" y="1707952"/>
            <a:ext cx="3403104" cy="9525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45571" y="1419969"/>
            <a:ext cx="139005" cy="13900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5568" y="1371451"/>
            <a:ext cx="1118309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kern="0" spc="25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 of Scope</a:t>
            </a:r>
            <a:endParaRPr lang="en-US" sz="1240" dirty="0"/>
          </a:p>
        </p:txBody>
      </p:sp>
      <p:sp>
        <p:nvSpPr>
          <p:cNvPr id="33" name="Text 20"/>
          <p:cNvSpPr/>
          <p:nvPr/>
        </p:nvSpPr>
        <p:spPr>
          <a:xfrm>
            <a:off x="6343204" y="1408956"/>
            <a:ext cx="491877" cy="177299"/>
          </a:xfrm>
          <a:prstGeom prst="roundRect">
            <a:avLst>
              <a:gd name="adj" fmla="val 8094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</a:t>
            </a:r>
            <a:endParaRPr lang="en-US" sz="62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7349" y="1921306"/>
            <a:ext cx="132588" cy="13258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28034" y="1925687"/>
            <a:ext cx="179705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address validation</a:t>
            </a:r>
            <a:endParaRPr lang="en-US" sz="93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27349" y="2222087"/>
            <a:ext cx="132588" cy="13258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228034" y="2226469"/>
            <a:ext cx="200644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autocomplete / typeahead</a:t>
            </a:r>
            <a:endParaRPr lang="en-US" sz="93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27349" y="2522869"/>
            <a:ext cx="132588" cy="13258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228034" y="2527250"/>
            <a:ext cx="1248296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correction UI</a:t>
            </a:r>
            <a:endParaRPr lang="en-US" sz="93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27349" y="2823651"/>
            <a:ext cx="132588" cy="132588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5228034" y="2828032"/>
            <a:ext cx="207094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Smarty account management</a:t>
            </a:r>
            <a:endParaRPr lang="en-US" sz="93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27349" y="3124432"/>
            <a:ext cx="132588" cy="132588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5228034" y="3128814"/>
            <a:ext cx="223711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address change notifications</a:t>
            </a:r>
            <a:endParaRPr lang="en-US" sz="93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27349" y="3425214"/>
            <a:ext cx="132588" cy="132588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5228034" y="3429595"/>
            <a:ext cx="147912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9"/>
              </a:lnSpc>
              <a:buNone/>
            </a:pPr>
            <a:r>
              <a:rPr lang="en-US" sz="9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customer UI</a:t>
            </a:r>
            <a:endParaRPr lang="en-US" sz="930" dirty="0"/>
          </a:p>
        </p:txBody>
      </p:sp>
      <p:sp>
        <p:nvSpPr>
          <p:cNvPr id="46" name="Text 27"/>
          <p:cNvSpPr/>
          <p:nvPr/>
        </p:nvSpPr>
        <p:spPr>
          <a:xfrm>
            <a:off x="5045571" y="3837087"/>
            <a:ext cx="3403104" cy="524569"/>
          </a:xfrm>
          <a:prstGeom prst="roundRect">
            <a:avLst>
              <a:gd name="adj" fmla="val 10895"/>
            </a:avLst>
          </a:prstGeom>
          <a:solidFill>
            <a:srgbClr val="94A3B8">
              <a:alpha val="6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marked out of scope may be considered for future phases based on demand.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770" y="260598"/>
            <a:ext cx="35421" cy="257770"/>
          </a:xfrm>
          <a:prstGeom prst="roundRect">
            <a:avLst>
              <a:gd name="adj" fmla="val 60953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3502" y="228600"/>
            <a:ext cx="2158899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69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Overview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393650" y="579686"/>
            <a:ext cx="934183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Architecture · Blazor Frontend · Two-Tier Caching Flow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725388" y="887611"/>
            <a:ext cx="1115020" cy="1857970"/>
          </a:xfrm>
          <a:prstGeom prst="roundRect">
            <a:avLst>
              <a:gd name="adj" fmla="val 8998"/>
            </a:avLst>
          </a:prstGeom>
          <a:solidFill>
            <a:srgbClr val="1E293B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97173" y="810816"/>
            <a:ext cx="171450" cy="188595"/>
          </a:xfrm>
          <a:prstGeom prst="ellipse">
            <a:avLst/>
          </a:prstGeom>
          <a:solidFill>
            <a:srgbClr val="14B8A6"/>
          </a:solidFill>
          <a:ln/>
          <a:effectLst>
            <a:outerShdw blurRad="86360" dist="50800" dir="16200000" algn="bl" rotWithShape="0">
              <a:srgbClr val="14B8A6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5438" y="1011436"/>
            <a:ext cx="314920" cy="31492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604" y="1102602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6240" y="1397347"/>
            <a:ext cx="813316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Blazor Frontend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812000" y="1575197"/>
            <a:ext cx="941796" cy="94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accesses </a:t>
            </a:r>
            <a:r>
              <a:rPr lang="en-US" sz="62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UI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(Blazor Interactive Server). Communicates via </a:t>
            </a:r>
            <a:r>
              <a:rPr lang="en-US" sz="62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SignalR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real-time updates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1076027" y="2507159"/>
            <a:ext cx="422017" cy="128588"/>
          </a:xfrm>
          <a:prstGeom prst="roundRect">
            <a:avLst>
              <a:gd name="adj" fmla="val 33580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30" b="1" kern="0" spc="2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53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1496" y="1893103"/>
            <a:ext cx="158445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41029" y="887611"/>
            <a:ext cx="1115020" cy="1857970"/>
          </a:xfrm>
          <a:prstGeom prst="roundRect">
            <a:avLst>
              <a:gd name="adj" fmla="val 8998"/>
            </a:avLst>
          </a:prstGeom>
          <a:solidFill>
            <a:srgbClr val="1E293B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512814" y="810816"/>
            <a:ext cx="171450" cy="188595"/>
          </a:xfrm>
          <a:prstGeom prst="ellipse">
            <a:avLst/>
          </a:prstGeom>
          <a:solidFill>
            <a:srgbClr val="3B82F6"/>
          </a:solidFill>
          <a:ln/>
          <a:effectLst>
            <a:outerShdw blurRad="8636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2441079" y="1011436"/>
            <a:ext cx="314920" cy="31492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2245" y="1102602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77174" y="1397347"/>
            <a:ext cx="642729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Gateway</a:t>
            </a:r>
            <a:endParaRPr lang="en-US" sz="760" dirty="0"/>
          </a:p>
        </p:txBody>
      </p:sp>
      <p:sp>
        <p:nvSpPr>
          <p:cNvPr id="18" name="Text 13"/>
          <p:cNvSpPr/>
          <p:nvPr/>
        </p:nvSpPr>
        <p:spPr>
          <a:xfrm>
            <a:off x="2127641" y="1575197"/>
            <a:ext cx="941796" cy="94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arrive with </a:t>
            </a:r>
            <a:r>
              <a:rPr lang="en-US" sz="6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Api-Version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header and </a:t>
            </a:r>
            <a:r>
              <a:rPr lang="en-US" sz="6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authentication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2317552" y="2507159"/>
            <a:ext cx="573063" cy="128588"/>
          </a:xfrm>
          <a:prstGeom prst="roundRect">
            <a:avLst>
              <a:gd name="adj" fmla="val 33580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30" b="1" kern="0" spc="2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53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7137" y="1893103"/>
            <a:ext cx="158445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56670" y="887611"/>
            <a:ext cx="1115020" cy="1857970"/>
          </a:xfrm>
          <a:prstGeom prst="roundRect">
            <a:avLst>
              <a:gd name="adj" fmla="val 8998"/>
            </a:avLst>
          </a:prstGeom>
          <a:solidFill>
            <a:srgbClr val="1E293B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828455" y="810816"/>
            <a:ext cx="171450" cy="188595"/>
          </a:xfrm>
          <a:prstGeom prst="ellipse">
            <a:avLst/>
          </a:prstGeom>
          <a:solidFill>
            <a:srgbClr val="22C55E"/>
          </a:solidFill>
          <a:ln/>
          <a:effectLst>
            <a:outerShdw blurRad="86360" dist="50800" dir="16200000" algn="bl" rotWithShape="0">
              <a:srgbClr val="22C55E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23" name="Text 17"/>
          <p:cNvSpPr/>
          <p:nvPr/>
        </p:nvSpPr>
        <p:spPr>
          <a:xfrm>
            <a:off x="3756720" y="1011436"/>
            <a:ext cx="314920" cy="31492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886" y="1102602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443282" y="1397347"/>
            <a:ext cx="941796" cy="25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Minimal API + FluentValidation</a:t>
            </a:r>
            <a:endParaRPr lang="en-US" sz="760" dirty="0"/>
          </a:p>
        </p:txBody>
      </p:sp>
      <p:sp>
        <p:nvSpPr>
          <p:cNvPr id="26" name="Text 19"/>
          <p:cNvSpPr/>
          <p:nvPr/>
        </p:nvSpPr>
        <p:spPr>
          <a:xfrm>
            <a:off x="3443282" y="1695896"/>
            <a:ext cx="94179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validated and routed to the appropriate feature slice handler via VSA</a:t>
            </a:r>
            <a:endParaRPr lang="en-US" sz="620" dirty="0"/>
          </a:p>
        </p:txBody>
      </p:sp>
      <p:sp>
        <p:nvSpPr>
          <p:cNvPr id="27" name="Text 20"/>
          <p:cNvSpPr/>
          <p:nvPr/>
        </p:nvSpPr>
        <p:spPr>
          <a:xfrm>
            <a:off x="3658195" y="2507159"/>
            <a:ext cx="522208" cy="128588"/>
          </a:xfrm>
          <a:prstGeom prst="roundRect">
            <a:avLst>
              <a:gd name="adj" fmla="val 33580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30" b="1" kern="0" spc="2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53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2777" y="1893103"/>
            <a:ext cx="158445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72310" y="887611"/>
            <a:ext cx="1115020" cy="1857970"/>
          </a:xfrm>
          <a:prstGeom prst="roundRect">
            <a:avLst>
              <a:gd name="adj" fmla="val 8998"/>
            </a:avLst>
          </a:prstGeom>
          <a:solidFill>
            <a:srgbClr val="1E293B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144095" y="810816"/>
            <a:ext cx="171450" cy="188595"/>
          </a:xfrm>
          <a:prstGeom prst="ellipse">
            <a:avLst/>
          </a:prstGeom>
          <a:solidFill>
            <a:srgbClr val="06B6D4"/>
          </a:solidFill>
          <a:ln/>
          <a:effectLst>
            <a:outerShdw blurRad="86360" dist="50800" dir="16200000" algn="bl" rotWithShape="0">
              <a:srgbClr val="06B6D4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31" name="Text 23"/>
          <p:cNvSpPr/>
          <p:nvPr/>
        </p:nvSpPr>
        <p:spPr>
          <a:xfrm>
            <a:off x="5072360" y="1011436"/>
            <a:ext cx="314920" cy="31492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63526" y="1102602"/>
            <a:ext cx="132588" cy="132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734438" y="1397347"/>
            <a:ext cx="990615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Cache Orchestrator</a:t>
            </a:r>
            <a:endParaRPr lang="en-US" sz="760" dirty="0"/>
          </a:p>
        </p:txBody>
      </p:sp>
      <p:sp>
        <p:nvSpPr>
          <p:cNvPr id="34" name="Text 25"/>
          <p:cNvSpPr/>
          <p:nvPr/>
        </p:nvSpPr>
        <p:spPr>
          <a:xfrm>
            <a:off x="4758922" y="1575197"/>
            <a:ext cx="941796" cy="94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Redis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(1hr TTL) → </a:t>
            </a:r>
            <a:r>
              <a:rPr lang="en-US" sz="6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CosmosDB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(90-day TTL). Returns cached result on hit.</a:t>
            </a:r>
            <a:endParaRPr lang="en-US" sz="620" dirty="0"/>
          </a:p>
        </p:txBody>
      </p:sp>
      <p:sp>
        <p:nvSpPr>
          <p:cNvPr id="35" name="Text 26"/>
          <p:cNvSpPr/>
          <p:nvPr/>
        </p:nvSpPr>
        <p:spPr>
          <a:xfrm>
            <a:off x="4874270" y="2507159"/>
            <a:ext cx="725323" cy="128588"/>
          </a:xfrm>
          <a:prstGeom prst="roundRect">
            <a:avLst>
              <a:gd name="adj" fmla="val 33580"/>
            </a:avLst>
          </a:prstGeom>
          <a:solidFill>
            <a:srgbClr val="06B6D4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30" b="1" kern="0" spc="2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CACHE</a:t>
            </a:r>
            <a:endParaRPr lang="en-US" sz="53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08418" y="1893103"/>
            <a:ext cx="158445" cy="132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87951" y="887611"/>
            <a:ext cx="1115020" cy="1857970"/>
          </a:xfrm>
          <a:prstGeom prst="roundRect">
            <a:avLst>
              <a:gd name="adj" fmla="val 8998"/>
            </a:avLst>
          </a:prstGeom>
          <a:solidFill>
            <a:srgbClr val="1E293B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6459736" y="810816"/>
            <a:ext cx="171450" cy="188595"/>
          </a:xfrm>
          <a:prstGeom prst="ellipse">
            <a:avLst/>
          </a:prstGeom>
          <a:solidFill>
            <a:srgbClr val="F59E0B"/>
          </a:solidFill>
          <a:ln/>
          <a:effectLst>
            <a:outerShdw blurRad="86360" dist="50800" dir="16200000" algn="bl" rotWithShape="0">
              <a:srgbClr val="F59E0B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39" name="Text 29"/>
          <p:cNvSpPr/>
          <p:nvPr/>
        </p:nvSpPr>
        <p:spPr>
          <a:xfrm>
            <a:off x="6388001" y="1011436"/>
            <a:ext cx="314920" cy="3149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9167" y="1102602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135536" y="1397347"/>
            <a:ext cx="819701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Smarty Provider</a:t>
            </a:r>
            <a:endParaRPr lang="en-US" sz="760" dirty="0"/>
          </a:p>
        </p:txBody>
      </p:sp>
      <p:sp>
        <p:nvSpPr>
          <p:cNvPr id="42" name="Text 31"/>
          <p:cNvSpPr/>
          <p:nvPr/>
        </p:nvSpPr>
        <p:spPr>
          <a:xfrm>
            <a:off x="6074563" y="1575197"/>
            <a:ext cx="941796" cy="94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cache miss, </a:t>
            </a: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calls Smarty US Street API with </a:t>
            </a:r>
            <a:r>
              <a:rPr lang="en-US" sz="62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resilience (retry + circuit breaker)</a:t>
            </a:r>
            <a:endParaRPr lang="en-US" sz="620" dirty="0"/>
          </a:p>
        </p:txBody>
      </p:sp>
      <p:sp>
        <p:nvSpPr>
          <p:cNvPr id="43" name="Text 32"/>
          <p:cNvSpPr/>
          <p:nvPr/>
        </p:nvSpPr>
        <p:spPr>
          <a:xfrm>
            <a:off x="6278761" y="2507159"/>
            <a:ext cx="543916" cy="128588"/>
          </a:xfrm>
          <a:prstGeom prst="roundRect">
            <a:avLst>
              <a:gd name="adj" fmla="val 33580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30" b="1" kern="0" spc="2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53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24059" y="1893103"/>
            <a:ext cx="158445" cy="13258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303591" y="887611"/>
            <a:ext cx="1115020" cy="1857970"/>
          </a:xfrm>
          <a:prstGeom prst="roundRect">
            <a:avLst>
              <a:gd name="adj" fmla="val 8998"/>
            </a:avLst>
          </a:prstGeom>
          <a:solidFill>
            <a:srgbClr val="1E293B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7775377" y="810816"/>
            <a:ext cx="171450" cy="188595"/>
          </a:xfrm>
          <a:prstGeom prst="ellipse">
            <a:avLst/>
          </a:prstGeom>
          <a:solidFill>
            <a:srgbClr val="A78BFA"/>
          </a:solidFill>
          <a:ln/>
          <a:effectLst>
            <a:outerShdw blurRad="86360" dist="50800" dir="16200000" algn="bl" rotWithShape="0">
              <a:srgbClr val="A78BFA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80" dirty="0"/>
          </a:p>
        </p:txBody>
      </p:sp>
      <p:sp>
        <p:nvSpPr>
          <p:cNvPr id="47" name="Text 35"/>
          <p:cNvSpPr/>
          <p:nvPr/>
        </p:nvSpPr>
        <p:spPr>
          <a:xfrm>
            <a:off x="7703641" y="1011436"/>
            <a:ext cx="314920" cy="31492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94808" y="1102602"/>
            <a:ext cx="132588" cy="13258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445439" y="1397347"/>
            <a:ext cx="831324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 &amp; Return</a:t>
            </a:r>
            <a:endParaRPr lang="en-US" sz="760" dirty="0"/>
          </a:p>
        </p:txBody>
      </p:sp>
      <p:sp>
        <p:nvSpPr>
          <p:cNvPr id="50" name="Text 37"/>
          <p:cNvSpPr/>
          <p:nvPr/>
        </p:nvSpPr>
        <p:spPr>
          <a:xfrm>
            <a:off x="7390203" y="1575197"/>
            <a:ext cx="941796" cy="94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to </a:t>
            </a: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cache tiers</a:t>
            </a: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audit events emitted, validated address returned</a:t>
            </a:r>
            <a:endParaRPr lang="en-US" sz="620" dirty="0"/>
          </a:p>
        </p:txBody>
      </p:sp>
      <p:sp>
        <p:nvSpPr>
          <p:cNvPr id="51" name="Text 38"/>
          <p:cNvSpPr/>
          <p:nvPr/>
        </p:nvSpPr>
        <p:spPr>
          <a:xfrm>
            <a:off x="7621191" y="2507159"/>
            <a:ext cx="489267" cy="128588"/>
          </a:xfrm>
          <a:prstGeom prst="roundRect">
            <a:avLst>
              <a:gd name="adj" fmla="val 33580"/>
            </a:avLst>
          </a:prstGeom>
          <a:solidFill>
            <a:srgbClr val="A78BFA">
              <a:alpha val="15000"/>
            </a:srgbClr>
          </a:solidFill>
          <a:ln/>
        </p:spPr>
        <p:txBody>
          <a:bodyPr wrap="none" lIns="43180" tIns="13970" rIns="43180" bIns="13970" rtlCol="0" anchor="t"/>
          <a:lstStyle/>
          <a:p>
            <a:pPr marL="0" indent="0" algn="l">
              <a:buNone/>
            </a:pPr>
            <a:r>
              <a:rPr lang="en-US" sz="530" b="1" kern="0" spc="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53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25054" y="2774752"/>
            <a:ext cx="5894040" cy="19332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257770" y="4773513"/>
            <a:ext cx="8628459" cy="9525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0"/>
          <p:cNvSpPr/>
          <p:nvPr/>
        </p:nvSpPr>
        <p:spPr>
          <a:xfrm>
            <a:off x="2234654" y="4880670"/>
            <a:ext cx="64740" cy="64740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1"/>
          <p:cNvSpPr/>
          <p:nvPr/>
        </p:nvSpPr>
        <p:spPr>
          <a:xfrm>
            <a:off x="2342555" y="4854029"/>
            <a:ext cx="32676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620" dirty="0"/>
          </a:p>
        </p:txBody>
      </p:sp>
      <p:sp>
        <p:nvSpPr>
          <p:cNvPr id="56" name="Text 42"/>
          <p:cNvSpPr/>
          <p:nvPr/>
        </p:nvSpPr>
        <p:spPr>
          <a:xfrm>
            <a:off x="2811066" y="4880670"/>
            <a:ext cx="64740" cy="6474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3"/>
          <p:cNvSpPr/>
          <p:nvPr/>
        </p:nvSpPr>
        <p:spPr>
          <a:xfrm>
            <a:off x="2918966" y="4854029"/>
            <a:ext cx="28354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620" dirty="0"/>
          </a:p>
        </p:txBody>
      </p:sp>
      <p:sp>
        <p:nvSpPr>
          <p:cNvPr id="58" name="Text 44"/>
          <p:cNvSpPr/>
          <p:nvPr/>
        </p:nvSpPr>
        <p:spPr>
          <a:xfrm>
            <a:off x="3348186" y="4880670"/>
            <a:ext cx="64740" cy="64740"/>
          </a:xfrm>
          <a:prstGeom prst="ellipse">
            <a:avLst/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3456087" y="4854029"/>
            <a:ext cx="3732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620" dirty="0"/>
          </a:p>
        </p:txBody>
      </p:sp>
      <p:sp>
        <p:nvSpPr>
          <p:cNvPr id="60" name="Text 46"/>
          <p:cNvSpPr/>
          <p:nvPr/>
        </p:nvSpPr>
        <p:spPr>
          <a:xfrm>
            <a:off x="3966865" y="4880670"/>
            <a:ext cx="64740" cy="64740"/>
          </a:xfrm>
          <a:prstGeom prst="ellipse">
            <a:avLst/>
          </a:prstGeom>
          <a:solidFill>
            <a:srgbClr val="06B6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4074765" y="4854029"/>
            <a:ext cx="5574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</a:t>
            </a:r>
            <a:endParaRPr lang="en-US" sz="620" dirty="0"/>
          </a:p>
        </p:txBody>
      </p:sp>
      <p:sp>
        <p:nvSpPr>
          <p:cNvPr id="62" name="Text 48"/>
          <p:cNvSpPr/>
          <p:nvPr/>
        </p:nvSpPr>
        <p:spPr>
          <a:xfrm>
            <a:off x="4752975" y="4880670"/>
            <a:ext cx="64740" cy="6474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9"/>
          <p:cNvSpPr/>
          <p:nvPr/>
        </p:nvSpPr>
        <p:spPr>
          <a:xfrm>
            <a:off x="4860875" y="4854029"/>
            <a:ext cx="6630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Provider</a:t>
            </a:r>
            <a:endParaRPr lang="en-US" sz="620" dirty="0"/>
          </a:p>
        </p:txBody>
      </p:sp>
      <p:sp>
        <p:nvSpPr>
          <p:cNvPr id="64" name="Text 50"/>
          <p:cNvSpPr/>
          <p:nvPr/>
        </p:nvSpPr>
        <p:spPr>
          <a:xfrm>
            <a:off x="5635079" y="4880670"/>
            <a:ext cx="64740" cy="64740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1"/>
          <p:cNvSpPr/>
          <p:nvPr/>
        </p:nvSpPr>
        <p:spPr>
          <a:xfrm>
            <a:off x="5742980" y="4854029"/>
            <a:ext cx="4516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620" dirty="0"/>
          </a:p>
        </p:txBody>
      </p:sp>
      <p:sp>
        <p:nvSpPr>
          <p:cNvPr id="66" name="Text 52"/>
          <p:cNvSpPr/>
          <p:nvPr/>
        </p:nvSpPr>
        <p:spPr>
          <a:xfrm>
            <a:off x="6325046" y="4880670"/>
            <a:ext cx="64740" cy="64740"/>
          </a:xfrm>
          <a:prstGeom prst="ellipse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3"/>
          <p:cNvSpPr/>
          <p:nvPr/>
        </p:nvSpPr>
        <p:spPr>
          <a:xfrm>
            <a:off x="6432947" y="4854029"/>
            <a:ext cx="5238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Push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3280" y="0"/>
            <a:ext cx="1000720" cy="1000720"/>
          </a:xfrm>
          <a:prstGeom prst="ellipse">
            <a:avLst/>
          </a:prstGeom>
          <a:gradFill rotWithShape="1">
            <a:gsLst>
              <a:gs pos="0">
                <a:srgbClr val="3B82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28750" y="4000500"/>
            <a:ext cx="1572220" cy="1143000"/>
          </a:xfrm>
          <a:prstGeom prst="ellipse">
            <a:avLst/>
          </a:prstGeom>
          <a:gradFill rotWithShape="1">
            <a:gsLst>
              <a:gs pos="0">
                <a:srgbClr val="3B82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163687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14300" y="0"/>
                </a:moveTo>
                <a:lnTo>
                  <a:pt x="3895725" y="0"/>
                </a:lnTo>
                <a:lnTo>
                  <a:pt x="3920410" y="2698"/>
                </a:lnTo>
                <a:lnTo>
                  <a:pt x="3930426" y="5395"/>
                </a:lnTo>
                <a:lnTo>
                  <a:pt x="3937968" y="8093"/>
                </a:lnTo>
                <a:lnTo>
                  <a:pt x="3944204" y="10790"/>
                </a:lnTo>
                <a:lnTo>
                  <a:pt x="3949589" y="13488"/>
                </a:lnTo>
                <a:lnTo>
                  <a:pt x="3954359" y="16185"/>
                </a:lnTo>
                <a:lnTo>
                  <a:pt x="3958653" y="18883"/>
                </a:lnTo>
                <a:lnTo>
                  <a:pt x="396256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1163687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14300" y="0"/>
                </a:moveTo>
                <a:lnTo>
                  <a:pt x="3895725" y="0"/>
                </a:lnTo>
                <a:lnTo>
                  <a:pt x="3920410" y="2698"/>
                </a:lnTo>
                <a:lnTo>
                  <a:pt x="3930426" y="5395"/>
                </a:lnTo>
                <a:lnTo>
                  <a:pt x="3937968" y="8093"/>
                </a:lnTo>
                <a:lnTo>
                  <a:pt x="3944204" y="10790"/>
                </a:lnTo>
                <a:lnTo>
                  <a:pt x="3949589" y="13488"/>
                </a:lnTo>
                <a:lnTo>
                  <a:pt x="3954359" y="16185"/>
                </a:lnTo>
                <a:lnTo>
                  <a:pt x="3958653" y="18883"/>
                </a:lnTo>
                <a:lnTo>
                  <a:pt x="396256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3072557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14300" y="0"/>
                </a:moveTo>
                <a:lnTo>
                  <a:pt x="3895725" y="0"/>
                </a:lnTo>
                <a:lnTo>
                  <a:pt x="3920410" y="2698"/>
                </a:lnTo>
                <a:lnTo>
                  <a:pt x="3930426" y="5395"/>
                </a:lnTo>
                <a:lnTo>
                  <a:pt x="3937968" y="8093"/>
                </a:lnTo>
                <a:lnTo>
                  <a:pt x="3944204" y="10790"/>
                </a:lnTo>
                <a:lnTo>
                  <a:pt x="3949589" y="13488"/>
                </a:lnTo>
                <a:lnTo>
                  <a:pt x="3954359" y="16185"/>
                </a:lnTo>
                <a:lnTo>
                  <a:pt x="3958653" y="18883"/>
                </a:lnTo>
                <a:lnTo>
                  <a:pt x="396256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0" y="3072557"/>
            <a:ext cx="4010025" cy="21580"/>
          </a:xfrm>
          <a:custGeom>
            <a:avLst/>
            <a:gdLst/>
            <a:ahLst/>
            <a:cxnLst/>
            <a:rect l="l" t="t" r="r" b="b"/>
            <a:pathLst>
              <a:path w="4010025" h="21580">
                <a:moveTo>
                  <a:pt x="114300" y="0"/>
                </a:moveTo>
                <a:lnTo>
                  <a:pt x="3895725" y="0"/>
                </a:lnTo>
                <a:lnTo>
                  <a:pt x="3920410" y="2698"/>
                </a:lnTo>
                <a:lnTo>
                  <a:pt x="3930426" y="5395"/>
                </a:lnTo>
                <a:lnTo>
                  <a:pt x="3937968" y="8093"/>
                </a:lnTo>
                <a:lnTo>
                  <a:pt x="3944204" y="10790"/>
                </a:lnTo>
                <a:lnTo>
                  <a:pt x="3949589" y="13488"/>
                </a:lnTo>
                <a:lnTo>
                  <a:pt x="3954359" y="16185"/>
                </a:lnTo>
                <a:lnTo>
                  <a:pt x="3958653" y="18883"/>
                </a:lnTo>
                <a:lnTo>
                  <a:pt x="396256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7207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560"/>
              </a:spcAft>
              <a:buNone/>
            </a:pPr>
            <a:r>
              <a:rPr lang="en-US" sz="730" b="1" kern="0" spc="14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57200" y="582067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Blazor Frontend Application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7200" y="1154162"/>
            <a:ext cx="4029075" cy="1737420"/>
          </a:xfrm>
          <a:prstGeom prst="roundRect">
            <a:avLst>
              <a:gd name="adj" fmla="val 6579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7345" y="1392287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73" y="1503015"/>
            <a:ext cx="150465" cy="15046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345" y="1864668"/>
            <a:ext cx="396966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-1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Blazor Interactive Server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667345" y="2137023"/>
            <a:ext cx="3680960" cy="3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with SignalR WebSocket for real-time UI diffs. Same .NET 10 ecosystem as the API backend. Orchestrated by Aspire.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657725" y="1154162"/>
            <a:ext cx="4029075" cy="1737420"/>
          </a:xfrm>
          <a:prstGeom prst="roundRect">
            <a:avLst>
              <a:gd name="adj" fmla="val 6579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67870" y="1392287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8598" y="1503015"/>
            <a:ext cx="150465" cy="1504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67870" y="1864668"/>
            <a:ext cx="396966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-1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Fluent UI</a:t>
            </a:r>
            <a:endParaRPr lang="en-US" sz="1130" dirty="0"/>
          </a:p>
        </p:txBody>
      </p:sp>
      <p:sp>
        <p:nvSpPr>
          <p:cNvPr id="19" name="Text 15"/>
          <p:cNvSpPr/>
          <p:nvPr/>
        </p:nvSpPr>
        <p:spPr>
          <a:xfrm>
            <a:off x="4867870" y="2137023"/>
            <a:ext cx="3680960" cy="3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component library — FluentDataGrid, FluentNavMenu, FluentDialog, FluentToast. WCAG 2.1 AA accessible out of the box.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457200" y="3063032"/>
            <a:ext cx="4029075" cy="1737568"/>
          </a:xfrm>
          <a:prstGeom prst="roundRect">
            <a:avLst>
              <a:gd name="adj" fmla="val 6578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67345" y="3301157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073" y="3411885"/>
            <a:ext cx="150465" cy="1504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345" y="3773537"/>
            <a:ext cx="396966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-1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Operations Pages</a:t>
            </a:r>
            <a:endParaRPr lang="en-US" sz="1130" dirty="0"/>
          </a:p>
        </p:txBody>
      </p:sp>
      <p:sp>
        <p:nvSpPr>
          <p:cNvPr id="24" name="Text 19"/>
          <p:cNvSpPr/>
          <p:nvPr/>
        </p:nvSpPr>
        <p:spPr>
          <a:xfrm>
            <a:off x="667345" y="4045893"/>
            <a:ext cx="3680960" cy="3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Validate Address, Batch Validation, Cache Management, Audit Log, Health &amp; Metrics, Settings — all with live data.</a:t>
            </a:r>
            <a:endParaRPr lang="en-US" sz="840" dirty="0"/>
          </a:p>
        </p:txBody>
      </p:sp>
      <p:sp>
        <p:nvSpPr>
          <p:cNvPr id="25" name="Text 20"/>
          <p:cNvSpPr/>
          <p:nvPr/>
        </p:nvSpPr>
        <p:spPr>
          <a:xfrm>
            <a:off x="4657725" y="3063032"/>
            <a:ext cx="4029075" cy="1737568"/>
          </a:xfrm>
          <a:prstGeom prst="roundRect">
            <a:avLst>
              <a:gd name="adj" fmla="val 6578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67870" y="3301157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8598" y="3411885"/>
            <a:ext cx="150465" cy="15046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67870" y="3773537"/>
            <a:ext cx="396966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-1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Monitoring</a:t>
            </a:r>
            <a:endParaRPr lang="en-US" sz="1130" dirty="0"/>
          </a:p>
        </p:txBody>
      </p:sp>
      <p:sp>
        <p:nvSpPr>
          <p:cNvPr id="29" name="Text 23"/>
          <p:cNvSpPr/>
          <p:nvPr/>
        </p:nvSpPr>
        <p:spPr>
          <a:xfrm>
            <a:off x="4867870" y="4045893"/>
            <a:ext cx="3680960" cy="3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pushes metrics every 5 seconds. Live cache hit ratios, validation counters, circuit breaker state, and dependency health.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575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5911"/>
            <a:ext cx="8805672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65"/>
              </a:lnSpc>
              <a:spcAft>
                <a:spcPts val="230"/>
              </a:spcAft>
              <a:buNone/>
            </a:pPr>
            <a:r>
              <a:rPr lang="en-US" sz="191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Architecture Decisions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57200" y="778966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foundational ADRs guiding the Address Validation Proxy Service design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57200" y="1100882"/>
            <a:ext cx="3930223" cy="188416"/>
          </a:xfrm>
          <a:prstGeom prst="rect">
            <a:avLst/>
          </a:prstGeom>
          <a:noFill/>
          <a:ln/>
        </p:spPr>
        <p:txBody>
          <a:bodyPr wrap="none" lIns="110718" tIns="0" rIns="0" bIns="49530" rtlCol="0" anchor="t"/>
          <a:lstStyle/>
          <a:p>
            <a:pPr marL="0" indent="0" algn="l">
              <a:buNone/>
            </a:pPr>
            <a:r>
              <a:rPr lang="en-US" sz="680" b="1" kern="0" spc="1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STRUCTURE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57200" y="1279773"/>
            <a:ext cx="3853160" cy="9525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485" y="1096575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75618"/>
            <a:ext cx="3853160" cy="625589"/>
          </a:xfrm>
          <a:prstGeom prst="roundRect">
            <a:avLst>
              <a:gd name="adj" fmla="val 1136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Header-Based API Versioning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URLs, enterprise standard, fully compatible with Azure API Management routing.</a:t>
            </a:r>
            <a:endParaRPr lang="en-US" sz="560" dirty="0"/>
          </a:p>
        </p:txBody>
      </p:sp>
      <p:sp>
        <p:nvSpPr>
          <p:cNvPr id="9" name="Text 6"/>
          <p:cNvSpPr/>
          <p:nvPr/>
        </p:nvSpPr>
        <p:spPr>
          <a:xfrm>
            <a:off x="457200" y="1375618"/>
            <a:ext cx="19050" cy="607368"/>
          </a:xfrm>
          <a:custGeom>
            <a:avLst/>
            <a:gdLst/>
            <a:ahLst/>
            <a:cxnLst/>
            <a:rect l="l" t="t" r="r" b="b"/>
            <a:pathLst>
              <a:path w="19050" h="60736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84691"/>
                </a:lnTo>
                <a:lnTo>
                  <a:pt x="16669" y="581998"/>
                </a:lnTo>
                <a:lnTo>
                  <a:pt x="14288" y="579004"/>
                </a:lnTo>
                <a:lnTo>
                  <a:pt x="11906" y="575640"/>
                </a:lnTo>
                <a:lnTo>
                  <a:pt x="9525" y="571802"/>
                </a:lnTo>
                <a:lnTo>
                  <a:pt x="7144" y="567314"/>
                </a:lnTo>
                <a:lnTo>
                  <a:pt x="4763" y="561835"/>
                </a:lnTo>
                <a:lnTo>
                  <a:pt x="2381" y="554497"/>
                </a:lnTo>
                <a:lnTo>
                  <a:pt x="0" y="53624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2053977"/>
            <a:ext cx="3853160" cy="625589"/>
          </a:xfrm>
          <a:prstGeom prst="roundRect">
            <a:avLst>
              <a:gd name="adj" fmla="val 1136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CosmosDB over Table Storage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Sub-15 ms reads, auto-scale RU/s, rich querying with SQL API, and built-in change feed.</a:t>
            </a:r>
            <a:endParaRPr lang="en-US" sz="560" dirty="0"/>
          </a:p>
        </p:txBody>
      </p:sp>
      <p:sp>
        <p:nvSpPr>
          <p:cNvPr id="11" name="Text 8"/>
          <p:cNvSpPr/>
          <p:nvPr/>
        </p:nvSpPr>
        <p:spPr>
          <a:xfrm>
            <a:off x="457200" y="2053977"/>
            <a:ext cx="19050" cy="607368"/>
          </a:xfrm>
          <a:custGeom>
            <a:avLst/>
            <a:gdLst/>
            <a:ahLst/>
            <a:cxnLst/>
            <a:rect l="l" t="t" r="r" b="b"/>
            <a:pathLst>
              <a:path w="19050" h="60736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84691"/>
                </a:lnTo>
                <a:lnTo>
                  <a:pt x="16669" y="581998"/>
                </a:lnTo>
                <a:lnTo>
                  <a:pt x="14288" y="579004"/>
                </a:lnTo>
                <a:lnTo>
                  <a:pt x="11906" y="575640"/>
                </a:lnTo>
                <a:lnTo>
                  <a:pt x="9525" y="571802"/>
                </a:lnTo>
                <a:lnTo>
                  <a:pt x="7144" y="567314"/>
                </a:lnTo>
                <a:lnTo>
                  <a:pt x="4763" y="561835"/>
                </a:lnTo>
                <a:lnTo>
                  <a:pt x="2381" y="554497"/>
                </a:lnTo>
                <a:lnTo>
                  <a:pt x="0" y="53624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2732336"/>
            <a:ext cx="3853160" cy="625589"/>
          </a:xfrm>
          <a:prstGeom prst="roundRect">
            <a:avLst>
              <a:gd name="adj" fmla="val 1136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Architecture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cohesion per slice, independently testable handlers, eliminates shotgun surgery.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457200" y="2732336"/>
            <a:ext cx="19050" cy="607368"/>
          </a:xfrm>
          <a:custGeom>
            <a:avLst/>
            <a:gdLst/>
            <a:ahLst/>
            <a:cxnLst/>
            <a:rect l="l" t="t" r="r" b="b"/>
            <a:pathLst>
              <a:path w="19050" h="60736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84691"/>
                </a:lnTo>
                <a:lnTo>
                  <a:pt x="16669" y="581998"/>
                </a:lnTo>
                <a:lnTo>
                  <a:pt x="14288" y="579004"/>
                </a:lnTo>
                <a:lnTo>
                  <a:pt x="11906" y="575640"/>
                </a:lnTo>
                <a:lnTo>
                  <a:pt x="9525" y="571802"/>
                </a:lnTo>
                <a:lnTo>
                  <a:pt x="7144" y="567314"/>
                </a:lnTo>
                <a:lnTo>
                  <a:pt x="4763" y="561835"/>
                </a:lnTo>
                <a:lnTo>
                  <a:pt x="2381" y="554497"/>
                </a:lnTo>
                <a:lnTo>
                  <a:pt x="0" y="53624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3410694"/>
            <a:ext cx="3853160" cy="753588"/>
          </a:xfrm>
          <a:prstGeom prst="roundRect">
            <a:avLst>
              <a:gd name="adj" fmla="val 943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ADR-007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Interactive Server + Fluent UI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.NET 10 stack, SignalR real-time updates, server-side security, Aspire co-orchestration, WCAG 2.1 AA built-in.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457200" y="3410694"/>
            <a:ext cx="19050" cy="731639"/>
          </a:xfrm>
          <a:custGeom>
            <a:avLst/>
            <a:gdLst/>
            <a:ahLst/>
            <a:cxnLst/>
            <a:rect l="l" t="t" r="r" b="b"/>
            <a:pathLst>
              <a:path w="19050" h="73163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08963"/>
                </a:lnTo>
                <a:lnTo>
                  <a:pt x="16669" y="706270"/>
                </a:lnTo>
                <a:lnTo>
                  <a:pt x="14288" y="703276"/>
                </a:lnTo>
                <a:lnTo>
                  <a:pt x="11906" y="699912"/>
                </a:lnTo>
                <a:lnTo>
                  <a:pt x="9525" y="696073"/>
                </a:lnTo>
                <a:lnTo>
                  <a:pt x="7144" y="691585"/>
                </a:lnTo>
                <a:lnTo>
                  <a:pt x="4763" y="686107"/>
                </a:lnTo>
                <a:lnTo>
                  <a:pt x="2381" y="678768"/>
                </a:lnTo>
                <a:lnTo>
                  <a:pt x="0" y="660519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68130" y="1100882"/>
            <a:ext cx="7590" cy="358169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B82F6">
                  <a:alpha val="30000"/>
                </a:srgbClr>
              </a:gs>
              <a:gs pos="80000">
                <a:srgbClr val="3B82F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33491" y="1100882"/>
            <a:ext cx="3930375" cy="188416"/>
          </a:xfrm>
          <a:prstGeom prst="rect">
            <a:avLst/>
          </a:prstGeom>
          <a:noFill/>
          <a:ln/>
        </p:spPr>
        <p:txBody>
          <a:bodyPr wrap="none" lIns="110718" tIns="0" rIns="0" bIns="49530" rtlCol="0" anchor="t"/>
          <a:lstStyle/>
          <a:p>
            <a:pPr marL="0" indent="0" algn="l">
              <a:buNone/>
            </a:pPr>
            <a:r>
              <a:rPr lang="en-US" sz="680" b="1" kern="0" spc="1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OPERATIONS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4833491" y="1279773"/>
            <a:ext cx="3853309" cy="9525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4776" y="1096575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33491" y="1375618"/>
            <a:ext cx="3853309" cy="753588"/>
          </a:xfrm>
          <a:prstGeom prst="roundRect">
            <a:avLst>
              <a:gd name="adj" fmla="val 943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Caching (Redis + CosmosDB)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70–85 % Smarty API call reduction; CosmosDB L2 provides resilience against Redis evictions.</a:t>
            </a:r>
            <a:endParaRPr lang="en-US" sz="560" dirty="0"/>
          </a:p>
        </p:txBody>
      </p:sp>
      <p:sp>
        <p:nvSpPr>
          <p:cNvPr id="21" name="Text 17"/>
          <p:cNvSpPr/>
          <p:nvPr/>
        </p:nvSpPr>
        <p:spPr>
          <a:xfrm>
            <a:off x="4833491" y="1375618"/>
            <a:ext cx="19050" cy="731639"/>
          </a:xfrm>
          <a:custGeom>
            <a:avLst/>
            <a:gdLst/>
            <a:ahLst/>
            <a:cxnLst/>
            <a:rect l="l" t="t" r="r" b="b"/>
            <a:pathLst>
              <a:path w="19050" h="73163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08963"/>
                </a:lnTo>
                <a:lnTo>
                  <a:pt x="16669" y="706270"/>
                </a:lnTo>
                <a:lnTo>
                  <a:pt x="14288" y="703276"/>
                </a:lnTo>
                <a:lnTo>
                  <a:pt x="11906" y="699912"/>
                </a:lnTo>
                <a:lnTo>
                  <a:pt x="9525" y="696073"/>
                </a:lnTo>
                <a:lnTo>
                  <a:pt x="7144" y="691585"/>
                </a:lnTo>
                <a:lnTo>
                  <a:pt x="4763" y="686107"/>
                </a:lnTo>
                <a:lnTo>
                  <a:pt x="2381" y="678768"/>
                </a:lnTo>
                <a:lnTo>
                  <a:pt x="0" y="660519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33491" y="2178248"/>
            <a:ext cx="3853309" cy="625589"/>
          </a:xfrm>
          <a:prstGeom prst="roundRect">
            <a:avLst>
              <a:gd name="adj" fmla="val 1136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 for Audit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compliance, full event replay capability for diagnostics.</a:t>
            </a:r>
            <a:endParaRPr lang="en-US" sz="560" dirty="0"/>
          </a:p>
        </p:txBody>
      </p:sp>
      <p:sp>
        <p:nvSpPr>
          <p:cNvPr id="23" name="Text 19"/>
          <p:cNvSpPr/>
          <p:nvPr/>
        </p:nvSpPr>
        <p:spPr>
          <a:xfrm>
            <a:off x="4833491" y="2178248"/>
            <a:ext cx="19050" cy="607368"/>
          </a:xfrm>
          <a:custGeom>
            <a:avLst/>
            <a:gdLst/>
            <a:ahLst/>
            <a:cxnLst/>
            <a:rect l="l" t="t" r="r" b="b"/>
            <a:pathLst>
              <a:path w="19050" h="60736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84691"/>
                </a:lnTo>
                <a:lnTo>
                  <a:pt x="16669" y="581998"/>
                </a:lnTo>
                <a:lnTo>
                  <a:pt x="14288" y="579004"/>
                </a:lnTo>
                <a:lnTo>
                  <a:pt x="11906" y="575640"/>
                </a:lnTo>
                <a:lnTo>
                  <a:pt x="9525" y="571802"/>
                </a:lnTo>
                <a:lnTo>
                  <a:pt x="7144" y="567314"/>
                </a:lnTo>
                <a:lnTo>
                  <a:pt x="4763" y="561835"/>
                </a:lnTo>
                <a:lnTo>
                  <a:pt x="2381" y="554497"/>
                </a:lnTo>
                <a:lnTo>
                  <a:pt x="0" y="53624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33491" y="2856607"/>
            <a:ext cx="3853309" cy="753588"/>
          </a:xfrm>
          <a:prstGeom prst="roundRect">
            <a:avLst>
              <a:gd name="adj" fmla="val 9438"/>
            </a:avLst>
          </a:prstGeom>
          <a:solidFill>
            <a:srgbClr val="1E293B"/>
          </a:solidFill>
          <a:ln/>
        </p:spPr>
        <p:txBody>
          <a:bodyPr wrap="square" lIns="128270" tIns="100330" rIns="128270" bIns="100330" rtlCol="0" anchor="t"/>
          <a:lstStyle/>
          <a:p>
            <a:pPr marL="0" indent="0" algn="l">
              <a:buNone/>
            </a:pPr>
            <a:r>
              <a:rPr lang="en-US" sz="560" b="1" kern="0" spc="8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ADR-006</a:t>
            </a:r>
            <a:endParaRPr lang="en-US" sz="560" dirty="0"/>
          </a:p>
          <a:p>
            <a:pPr marL="0" indent="0" algn="l">
              <a:buNone/>
            </a:pPr>
            <a:r>
              <a:rPr lang="en-US" sz="82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</a:t>
            </a:r>
            <a:endParaRPr lang="en-US" sz="560" dirty="0"/>
          </a:p>
          <a:p>
            <a:pPr marL="0" indent="0" algn="l">
              <a:buNone/>
            </a:pPr>
            <a:endParaRPr lang="en-US" sz="56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vendor lock-in via interface-based design; enables future A/B testing of providers.</a:t>
            </a:r>
            <a:endParaRPr lang="en-US" sz="560" dirty="0"/>
          </a:p>
        </p:txBody>
      </p:sp>
      <p:sp>
        <p:nvSpPr>
          <p:cNvPr id="25" name="Text 21"/>
          <p:cNvSpPr/>
          <p:nvPr/>
        </p:nvSpPr>
        <p:spPr>
          <a:xfrm>
            <a:off x="4833491" y="2856607"/>
            <a:ext cx="19050" cy="731639"/>
          </a:xfrm>
          <a:custGeom>
            <a:avLst/>
            <a:gdLst/>
            <a:ahLst/>
            <a:cxnLst/>
            <a:rect l="l" t="t" r="r" b="b"/>
            <a:pathLst>
              <a:path w="19050" h="73163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708963"/>
                </a:lnTo>
                <a:lnTo>
                  <a:pt x="16669" y="706270"/>
                </a:lnTo>
                <a:lnTo>
                  <a:pt x="14288" y="703276"/>
                </a:lnTo>
                <a:lnTo>
                  <a:pt x="11906" y="699912"/>
                </a:lnTo>
                <a:lnTo>
                  <a:pt x="9525" y="696073"/>
                </a:lnTo>
                <a:lnTo>
                  <a:pt x="7144" y="691585"/>
                </a:lnTo>
                <a:lnTo>
                  <a:pt x="4763" y="686107"/>
                </a:lnTo>
                <a:lnTo>
                  <a:pt x="2381" y="678768"/>
                </a:lnTo>
                <a:lnTo>
                  <a:pt x="0" y="660519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57200" y="4848969"/>
            <a:ext cx="3217218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745409" y="4796879"/>
            <a:ext cx="18183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</a:t>
            </a:r>
            <a:endParaRPr lang="en-US" sz="620" dirty="0"/>
          </a:p>
        </p:txBody>
      </p:sp>
      <p:sp>
        <p:nvSpPr>
          <p:cNvPr id="28" name="Text 24"/>
          <p:cNvSpPr/>
          <p:nvPr/>
        </p:nvSpPr>
        <p:spPr>
          <a:xfrm>
            <a:off x="5469434" y="4848969"/>
            <a:ext cx="3217366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1904424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kern="0" spc="-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 Pages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2351336" y="561975"/>
            <a:ext cx="57150" cy="57150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65636" y="504825"/>
            <a:ext cx="27886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Blazor pages powered by Fluent UI components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958155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3045" y="112514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52" y="1201647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5116" y="1135856"/>
            <a:ext cx="7003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3B82F6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9" name="Text 6"/>
          <p:cNvSpPr/>
          <p:nvPr/>
        </p:nvSpPr>
        <p:spPr>
          <a:xfrm>
            <a:off x="925116" y="1253877"/>
            <a:ext cx="70035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553045" y="1481882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KPIs, validation volume charts, cache performance donut, and recent activity feed.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2514600" y="958155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67595" y="112514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4102" y="1201647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39666" y="1135856"/>
            <a:ext cx="10755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10B981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3039666" y="1253877"/>
            <a:ext cx="107558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 Address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2667595" y="1481882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input form with live validation, DPV result card with expandable accordion sections.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4629150" y="958155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82145" y="112514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8652" y="1201647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4216" y="1135856"/>
            <a:ext cx="10431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A855F7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21" name="Text 16"/>
          <p:cNvSpPr/>
          <p:nvPr/>
        </p:nvSpPr>
        <p:spPr>
          <a:xfrm>
            <a:off x="5154216" y="1253877"/>
            <a:ext cx="104316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 Validation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4782145" y="1481882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drag-and-drop upload, FluentDataGrid preview, color-coded results with export.</a:t>
            </a:r>
            <a:endParaRPr lang="en-US" sz="730" dirty="0"/>
          </a:p>
        </p:txBody>
      </p:sp>
      <p:sp>
        <p:nvSpPr>
          <p:cNvPr id="23" name="Text 18"/>
          <p:cNvSpPr/>
          <p:nvPr/>
        </p:nvSpPr>
        <p:spPr>
          <a:xfrm>
            <a:off x="6743700" y="958155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896695" y="112514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3202" y="1201647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8766" y="1135856"/>
            <a:ext cx="12592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F59E0B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27" name="Text 21"/>
          <p:cNvSpPr/>
          <p:nvPr/>
        </p:nvSpPr>
        <p:spPr>
          <a:xfrm>
            <a:off x="7268766" y="1253877"/>
            <a:ext cx="125926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Cache Management</a:t>
            </a:r>
            <a:endParaRPr lang="en-US" sz="960" dirty="0"/>
          </a:p>
        </p:txBody>
      </p:sp>
      <p:sp>
        <p:nvSpPr>
          <p:cNvPr id="28" name="Text 22"/>
          <p:cNvSpPr/>
          <p:nvPr/>
        </p:nvSpPr>
        <p:spPr>
          <a:xfrm>
            <a:off x="6896695" y="1481882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&amp; CosmosDB stats cards, searchable cache entries, flush confirmation dialog.</a:t>
            </a:r>
            <a:endParaRPr lang="en-US" sz="730" dirty="0"/>
          </a:p>
        </p:txBody>
      </p:sp>
      <p:sp>
        <p:nvSpPr>
          <p:cNvPr id="29" name="Text 23"/>
          <p:cNvSpPr/>
          <p:nvPr/>
        </p:nvSpPr>
        <p:spPr>
          <a:xfrm>
            <a:off x="400050" y="2137023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53045" y="2304008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552" y="2380515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5116" y="2314724"/>
            <a:ext cx="6255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EF4444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33" name="Text 26"/>
          <p:cNvSpPr/>
          <p:nvPr/>
        </p:nvSpPr>
        <p:spPr>
          <a:xfrm>
            <a:off x="925116" y="2432745"/>
            <a:ext cx="625539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Log</a:t>
            </a:r>
            <a:endParaRPr lang="en-US" sz="960" dirty="0"/>
          </a:p>
        </p:txBody>
      </p:sp>
      <p:sp>
        <p:nvSpPr>
          <p:cNvPr id="34" name="Text 27"/>
          <p:cNvSpPr/>
          <p:nvPr/>
        </p:nvSpPr>
        <p:spPr>
          <a:xfrm>
            <a:off x="553045" y="2660749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event sourcing trail, expandable JSON detail view, server-side pagination.</a:t>
            </a:r>
            <a:endParaRPr lang="en-US" sz="730" dirty="0"/>
          </a:p>
        </p:txBody>
      </p:sp>
      <p:sp>
        <p:nvSpPr>
          <p:cNvPr id="35" name="Text 28"/>
          <p:cNvSpPr/>
          <p:nvPr/>
        </p:nvSpPr>
        <p:spPr>
          <a:xfrm>
            <a:off x="2514600" y="2137023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2667595" y="2304008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4102" y="2380515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039666" y="2314724"/>
            <a:ext cx="10506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06B6D4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620" dirty="0"/>
          </a:p>
        </p:txBody>
      </p:sp>
      <p:sp>
        <p:nvSpPr>
          <p:cNvPr id="39" name="Text 31"/>
          <p:cNvSpPr/>
          <p:nvPr/>
        </p:nvSpPr>
        <p:spPr>
          <a:xfrm>
            <a:off x="3039666" y="2432745"/>
            <a:ext cx="105069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&amp; Metrics</a:t>
            </a:r>
            <a:endParaRPr lang="en-US" sz="960" dirty="0"/>
          </a:p>
        </p:txBody>
      </p:sp>
      <p:sp>
        <p:nvSpPr>
          <p:cNvPr id="40" name="Text 32"/>
          <p:cNvSpPr/>
          <p:nvPr/>
        </p:nvSpPr>
        <p:spPr>
          <a:xfrm>
            <a:off x="2667595" y="2660749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health badges, latency distribution charts, circuit breaker visualization.</a:t>
            </a:r>
            <a:endParaRPr lang="en-US" sz="730" dirty="0"/>
          </a:p>
        </p:txBody>
      </p:sp>
      <p:sp>
        <p:nvSpPr>
          <p:cNvPr id="41" name="Text 33"/>
          <p:cNvSpPr/>
          <p:nvPr/>
        </p:nvSpPr>
        <p:spPr>
          <a:xfrm>
            <a:off x="4629150" y="2137023"/>
            <a:ext cx="2000250" cy="1064568"/>
          </a:xfrm>
          <a:prstGeom prst="roundRect">
            <a:avLst>
              <a:gd name="adj" fmla="val 8112"/>
            </a:avLst>
          </a:prstGeom>
          <a:solidFill>
            <a:srgbClr val="1E293B"/>
          </a:solidFill>
          <a:ln w="9525">
            <a:solidFill>
              <a:srgbClr val="3B82F6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782145" y="2304008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94A3B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8652" y="2380515"/>
            <a:ext cx="132588" cy="132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154216" y="2314724"/>
            <a:ext cx="5289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94A3B8">
                    <a:alpha val="8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620" dirty="0"/>
          </a:p>
        </p:txBody>
      </p:sp>
      <p:sp>
        <p:nvSpPr>
          <p:cNvPr id="45" name="Text 36"/>
          <p:cNvSpPr/>
          <p:nvPr/>
        </p:nvSpPr>
        <p:spPr>
          <a:xfrm>
            <a:off x="5154216" y="2432745"/>
            <a:ext cx="52895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Settings</a:t>
            </a:r>
            <a:endParaRPr lang="en-US" sz="960" dirty="0"/>
          </a:p>
        </p:txBody>
      </p:sp>
      <p:sp>
        <p:nvSpPr>
          <p:cNvPr id="46" name="Text 37"/>
          <p:cNvSpPr/>
          <p:nvPr/>
        </p:nvSpPr>
        <p:spPr>
          <a:xfrm>
            <a:off x="4782145" y="2660749"/>
            <a:ext cx="172814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system config: versioning, cache TTLs, rate limits, and resilience policies.</a:t>
            </a:r>
            <a:endParaRPr lang="en-US" sz="73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58100" y="2495996"/>
            <a:ext cx="171450" cy="17145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463284" y="2724596"/>
            <a:ext cx="6171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620" dirty="0"/>
          </a:p>
        </p:txBody>
      </p:sp>
      <p:sp>
        <p:nvSpPr>
          <p:cNvPr id="49" name="Text 39"/>
          <p:cNvSpPr/>
          <p:nvPr/>
        </p:nvSpPr>
        <p:spPr>
          <a:xfrm>
            <a:off x="409575" y="967680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2524125" y="967680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1"/>
          <p:cNvSpPr/>
          <p:nvPr/>
        </p:nvSpPr>
        <p:spPr>
          <a:xfrm>
            <a:off x="4638675" y="967680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6753225" y="967680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409575" y="2146548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2524125" y="2146548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5"/>
          <p:cNvSpPr/>
          <p:nvPr/>
        </p:nvSpPr>
        <p:spPr>
          <a:xfrm>
            <a:off x="4638675" y="2146548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86360" y="0"/>
                </a:moveTo>
                <a:lnTo>
                  <a:pt x="1894840" y="0"/>
                </a:lnTo>
                <a:lnTo>
                  <a:pt x="1916256" y="2698"/>
                </a:lnTo>
                <a:lnTo>
                  <a:pt x="1924885" y="5395"/>
                </a:lnTo>
                <a:lnTo>
                  <a:pt x="1931340" y="8093"/>
                </a:lnTo>
                <a:lnTo>
                  <a:pt x="1936640" y="10790"/>
                </a:lnTo>
                <a:lnTo>
                  <a:pt x="1941183" y="13488"/>
                </a:lnTo>
                <a:lnTo>
                  <a:pt x="1945174" y="16185"/>
                </a:lnTo>
                <a:lnTo>
                  <a:pt x="1948737" y="18883"/>
                </a:lnTo>
                <a:lnTo>
                  <a:pt x="19519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130084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457200" y="529530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Stack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072455"/>
            <a:ext cx="1531144" cy="1871067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5312" y="164038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6478" y="1731550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336" y="2041624"/>
            <a:ext cx="63487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10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533884" y="2265759"/>
            <a:ext cx="13776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Language (C# 13)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2131814" y="1072455"/>
            <a:ext cx="1531144" cy="1871067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39926" y="164038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1092" y="1731550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10182" y="2041624"/>
            <a:ext cx="9744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Aspire</a:t>
            </a:r>
            <a:endParaRPr lang="en-US" sz="1240" dirty="0"/>
          </a:p>
        </p:txBody>
      </p:sp>
      <p:sp>
        <p:nvSpPr>
          <p:cNvPr id="13" name="Text 9"/>
          <p:cNvSpPr/>
          <p:nvPr/>
        </p:nvSpPr>
        <p:spPr>
          <a:xfrm>
            <a:off x="2256785" y="2265759"/>
            <a:ext cx="128120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Orchestration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3806428" y="1072455"/>
            <a:ext cx="1531144" cy="1871067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414540" y="154989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5706" y="1641062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7418" y="1951137"/>
            <a:ext cx="1309164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Cosmos DB</a:t>
            </a:r>
            <a:endParaRPr lang="en-US" sz="1240" dirty="0"/>
          </a:p>
        </p:txBody>
      </p:sp>
      <p:sp>
        <p:nvSpPr>
          <p:cNvPr id="18" name="Text 13"/>
          <p:cNvSpPr/>
          <p:nvPr/>
        </p:nvSpPr>
        <p:spPr>
          <a:xfrm>
            <a:off x="4058119" y="2356247"/>
            <a:ext cx="1027614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Cache (L2)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5481042" y="1072455"/>
            <a:ext cx="1531144" cy="1871067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089154" y="164038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0320" y="1731550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10878" y="2041624"/>
            <a:ext cx="471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Redis</a:t>
            </a:r>
            <a:endParaRPr lang="en-US" sz="1240" dirty="0"/>
          </a:p>
        </p:txBody>
      </p:sp>
      <p:sp>
        <p:nvSpPr>
          <p:cNvPr id="23" name="Text 17"/>
          <p:cNvSpPr/>
          <p:nvPr/>
        </p:nvSpPr>
        <p:spPr>
          <a:xfrm>
            <a:off x="5886949" y="2265759"/>
            <a:ext cx="719182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Cache (L1)</a:t>
            </a:r>
            <a:endParaRPr lang="en-US" sz="730" dirty="0"/>
          </a:p>
        </p:txBody>
      </p:sp>
      <p:sp>
        <p:nvSpPr>
          <p:cNvPr id="24" name="Text 18"/>
          <p:cNvSpPr/>
          <p:nvPr/>
        </p:nvSpPr>
        <p:spPr>
          <a:xfrm>
            <a:off x="7155656" y="1072455"/>
            <a:ext cx="1531144" cy="1871067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763768" y="1577727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4934" y="1668893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94134" y="1978968"/>
            <a:ext cx="654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Polly v8</a:t>
            </a:r>
            <a:endParaRPr lang="en-US" sz="1240" dirty="0"/>
          </a:p>
        </p:txBody>
      </p:sp>
      <p:sp>
        <p:nvSpPr>
          <p:cNvPr id="28" name="Text 21"/>
          <p:cNvSpPr/>
          <p:nvPr/>
        </p:nvSpPr>
        <p:spPr>
          <a:xfrm>
            <a:off x="7266646" y="2203103"/>
            <a:ext cx="130916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(Retry, Circuit Breaker)</a:t>
            </a:r>
            <a:endParaRPr lang="en-US" sz="730" dirty="0"/>
          </a:p>
        </p:txBody>
      </p:sp>
      <p:sp>
        <p:nvSpPr>
          <p:cNvPr id="29" name="Text 22"/>
          <p:cNvSpPr/>
          <p:nvPr/>
        </p:nvSpPr>
        <p:spPr>
          <a:xfrm>
            <a:off x="457200" y="3086993"/>
            <a:ext cx="1531144" cy="1871216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1065312" y="359241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478" y="3683579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30419" y="3993654"/>
            <a:ext cx="3845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Refit</a:t>
            </a:r>
            <a:endParaRPr lang="en-US" sz="1240" dirty="0"/>
          </a:p>
        </p:txBody>
      </p:sp>
      <p:sp>
        <p:nvSpPr>
          <p:cNvPr id="33" name="Text 25"/>
          <p:cNvSpPr/>
          <p:nvPr/>
        </p:nvSpPr>
        <p:spPr>
          <a:xfrm>
            <a:off x="568190" y="4217789"/>
            <a:ext cx="130916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HTTP Client for Smarty</a:t>
            </a:r>
            <a:endParaRPr lang="en-US" sz="730" dirty="0"/>
          </a:p>
        </p:txBody>
      </p:sp>
      <p:sp>
        <p:nvSpPr>
          <p:cNvPr id="34" name="Text 26"/>
          <p:cNvSpPr/>
          <p:nvPr/>
        </p:nvSpPr>
        <p:spPr>
          <a:xfrm>
            <a:off x="2131814" y="3086993"/>
            <a:ext cx="1531144" cy="1871216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2739926" y="365492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31092" y="3746087"/>
            <a:ext cx="132588" cy="132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273818" y="4056162"/>
            <a:ext cx="12469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OpenTelemetry</a:t>
            </a:r>
            <a:endParaRPr lang="en-US" sz="1240" dirty="0"/>
          </a:p>
        </p:txBody>
      </p:sp>
      <p:sp>
        <p:nvSpPr>
          <p:cNvPr id="38" name="Text 29"/>
          <p:cNvSpPr/>
          <p:nvPr/>
        </p:nvSpPr>
        <p:spPr>
          <a:xfrm>
            <a:off x="2217003" y="4280297"/>
            <a:ext cx="1360765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&amp; Metrics</a:t>
            </a:r>
            <a:endParaRPr lang="en-US" sz="730" dirty="0"/>
          </a:p>
        </p:txBody>
      </p:sp>
      <p:sp>
        <p:nvSpPr>
          <p:cNvPr id="39" name="Text 30"/>
          <p:cNvSpPr/>
          <p:nvPr/>
        </p:nvSpPr>
        <p:spPr>
          <a:xfrm>
            <a:off x="3806428" y="3086993"/>
            <a:ext cx="1531144" cy="1871216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4414540" y="3564434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5706" y="3655600"/>
            <a:ext cx="132588" cy="1325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917418" y="3965674"/>
            <a:ext cx="1309164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Container Apps</a:t>
            </a:r>
            <a:endParaRPr lang="en-US" sz="1240" dirty="0"/>
          </a:p>
        </p:txBody>
      </p:sp>
      <p:sp>
        <p:nvSpPr>
          <p:cNvPr id="43" name="Text 33"/>
          <p:cNvSpPr/>
          <p:nvPr/>
        </p:nvSpPr>
        <p:spPr>
          <a:xfrm>
            <a:off x="4123432" y="4370784"/>
            <a:ext cx="897136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Hosting</a:t>
            </a:r>
            <a:endParaRPr lang="en-US" sz="730" dirty="0"/>
          </a:p>
        </p:txBody>
      </p:sp>
      <p:sp>
        <p:nvSpPr>
          <p:cNvPr id="44" name="Text 34"/>
          <p:cNvSpPr/>
          <p:nvPr/>
        </p:nvSpPr>
        <p:spPr>
          <a:xfrm>
            <a:off x="5481042" y="3086993"/>
            <a:ext cx="1531144" cy="1871216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6089154" y="359241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0320" y="3683579"/>
            <a:ext cx="132588" cy="1325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688687" y="3993654"/>
            <a:ext cx="11158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Blazor Server</a:t>
            </a:r>
            <a:endParaRPr lang="en-US" sz="1240" dirty="0"/>
          </a:p>
        </p:txBody>
      </p:sp>
      <p:sp>
        <p:nvSpPr>
          <p:cNvPr id="48" name="Text 37"/>
          <p:cNvSpPr/>
          <p:nvPr/>
        </p:nvSpPr>
        <p:spPr>
          <a:xfrm>
            <a:off x="5592032" y="4217789"/>
            <a:ext cx="1309164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(.NET 10 Interactive Server)</a:t>
            </a:r>
            <a:endParaRPr lang="en-US" sz="730" dirty="0"/>
          </a:p>
        </p:txBody>
      </p:sp>
      <p:sp>
        <p:nvSpPr>
          <p:cNvPr id="49" name="Text 38"/>
          <p:cNvSpPr/>
          <p:nvPr/>
        </p:nvSpPr>
        <p:spPr>
          <a:xfrm>
            <a:off x="7155656" y="3086993"/>
            <a:ext cx="1531144" cy="1871216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 w="9525">
            <a:solidFill>
              <a:srgbClr val="3B82F6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9"/>
          <p:cNvSpPr/>
          <p:nvPr/>
        </p:nvSpPr>
        <p:spPr>
          <a:xfrm>
            <a:off x="7763768" y="365492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4934" y="3746087"/>
            <a:ext cx="132588" cy="13258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262619" y="4056162"/>
            <a:ext cx="13172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26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 UI Blazor</a:t>
            </a:r>
            <a:endParaRPr lang="en-US" sz="1240" dirty="0"/>
          </a:p>
        </p:txBody>
      </p:sp>
      <p:sp>
        <p:nvSpPr>
          <p:cNvPr id="53" name="Text 41"/>
          <p:cNvSpPr/>
          <p:nvPr/>
        </p:nvSpPr>
        <p:spPr>
          <a:xfrm>
            <a:off x="7402756" y="4280297"/>
            <a:ext cx="1036945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kern="0" spc="1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Library</a:t>
            </a:r>
            <a:endParaRPr lang="en-US" sz="730" dirty="0"/>
          </a:p>
        </p:txBody>
      </p:sp>
      <p:sp>
        <p:nvSpPr>
          <p:cNvPr id="54" name="Text 42"/>
          <p:cNvSpPr/>
          <p:nvPr/>
        </p:nvSpPr>
        <p:spPr>
          <a:xfrm>
            <a:off x="457200" y="5129659"/>
            <a:ext cx="822960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3"/>
          <p:cNvSpPr/>
          <p:nvPr/>
        </p:nvSpPr>
        <p:spPr>
          <a:xfrm>
            <a:off x="466725" y="1081980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4"/>
          <p:cNvSpPr/>
          <p:nvPr/>
        </p:nvSpPr>
        <p:spPr>
          <a:xfrm>
            <a:off x="2141339" y="1081980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3815953" y="1081980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6"/>
          <p:cNvSpPr/>
          <p:nvPr/>
        </p:nvSpPr>
        <p:spPr>
          <a:xfrm>
            <a:off x="5490567" y="1081980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7"/>
          <p:cNvSpPr/>
          <p:nvPr/>
        </p:nvSpPr>
        <p:spPr>
          <a:xfrm>
            <a:off x="7165181" y="1081980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8"/>
          <p:cNvSpPr/>
          <p:nvPr/>
        </p:nvSpPr>
        <p:spPr>
          <a:xfrm>
            <a:off x="466725" y="3096518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9"/>
          <p:cNvSpPr/>
          <p:nvPr/>
        </p:nvSpPr>
        <p:spPr>
          <a:xfrm>
            <a:off x="2141339" y="3096518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0"/>
          <p:cNvSpPr/>
          <p:nvPr/>
        </p:nvSpPr>
        <p:spPr>
          <a:xfrm>
            <a:off x="3815953" y="3096518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1"/>
          <p:cNvSpPr/>
          <p:nvPr/>
        </p:nvSpPr>
        <p:spPr>
          <a:xfrm>
            <a:off x="5490567" y="3096518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2"/>
          <p:cNvSpPr/>
          <p:nvPr/>
        </p:nvSpPr>
        <p:spPr>
          <a:xfrm>
            <a:off x="7165181" y="3096518"/>
            <a:ext cx="1512094" cy="21580"/>
          </a:xfrm>
          <a:custGeom>
            <a:avLst/>
            <a:gdLst/>
            <a:ahLst/>
            <a:cxnLst/>
            <a:rect l="l" t="t" r="r" b="b"/>
            <a:pathLst>
              <a:path w="1512094" h="21580">
                <a:moveTo>
                  <a:pt x="86360" y="0"/>
                </a:moveTo>
                <a:lnTo>
                  <a:pt x="1425734" y="0"/>
                </a:lnTo>
                <a:lnTo>
                  <a:pt x="1447150" y="2698"/>
                </a:lnTo>
                <a:lnTo>
                  <a:pt x="1455779" y="5395"/>
                </a:lnTo>
                <a:lnTo>
                  <a:pt x="1462234" y="8093"/>
                </a:lnTo>
                <a:lnTo>
                  <a:pt x="1467534" y="10790"/>
                </a:lnTo>
                <a:lnTo>
                  <a:pt x="1472076" y="13488"/>
                </a:lnTo>
                <a:lnTo>
                  <a:pt x="1476068" y="16185"/>
                </a:lnTo>
                <a:lnTo>
                  <a:pt x="1479630" y="18883"/>
                </a:lnTo>
                <a:lnTo>
                  <a:pt x="1482844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6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20000" t="70000" r="8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65079" y="775246"/>
            <a:ext cx="13841" cy="37719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3B82F6"/>
              </a:gs>
              <a:gs pos="95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320040" y="200620"/>
            <a:ext cx="97840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90" kern="0" spc="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Timeline </a:t>
            </a:r>
            <a:r>
              <a:rPr lang="en-US" sz="1690" kern="0" spc="6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r>
              <a:rPr lang="en-US" sz="1690" kern="0" spc="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Milestones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-457200" y="469850"/>
            <a:ext cx="100584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30"/>
              </a:lnSpc>
              <a:buNone/>
            </a:pPr>
            <a:r>
              <a:rPr lang="en-US" sz="730" kern="0" spc="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 · 16 Weeks · API + Frontend Delivery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285750" y="688777"/>
            <a:ext cx="3643610" cy="723156"/>
          </a:xfrm>
          <a:prstGeom prst="roundRect">
            <a:avLst>
              <a:gd name="adj" fmla="val 983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4932" y="784622"/>
            <a:ext cx="473631" cy="113407"/>
          </a:xfrm>
          <a:prstGeom prst="roundRect">
            <a:avLst>
              <a:gd name="adj" fmla="val 25757"/>
            </a:avLst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917079" y="798463"/>
            <a:ext cx="37702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409575" y="927199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409575" y="1084362"/>
            <a:ext cx="346387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Aspire scaffolding, project structure, CI/CD pipeline, CosmosDB provisioning, Blazor project setup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919835" y="1046485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86610" y="688777"/>
            <a:ext cx="3643610" cy="723156"/>
          </a:xfrm>
          <a:prstGeom prst="roundRect">
            <a:avLst>
              <a:gd name="adj" fmla="val 983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5792" y="784622"/>
            <a:ext cx="473631" cy="113407"/>
          </a:xfrm>
          <a:prstGeom prst="roundRect">
            <a:avLst>
              <a:gd name="adj" fmla="val 25757"/>
            </a:avLst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5417939" y="798463"/>
            <a:ext cx="37702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4910435" y="927199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Validation API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4910435" y="1084362"/>
            <a:ext cx="346387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address validation endpoint, Smarty integration via Refit, FluentValidation, header-based versioning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581525" y="1046485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750" y="1675656"/>
            <a:ext cx="3643610" cy="603498"/>
          </a:xfrm>
          <a:prstGeom prst="roundRect">
            <a:avLst>
              <a:gd name="adj" fmla="val 1178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4932" y="1771501"/>
            <a:ext cx="473631" cy="113407"/>
          </a:xfrm>
          <a:prstGeom prst="roundRect">
            <a:avLst>
              <a:gd name="adj" fmla="val 25757"/>
            </a:avLst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917079" y="1785342"/>
            <a:ext cx="37702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409575" y="1914079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Caching &amp; Batch API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409575" y="2071241"/>
            <a:ext cx="37355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L1 + CosmosDB L2 caching, batch validation endpoint, cache management endpoints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919835" y="1973535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6610" y="1675656"/>
            <a:ext cx="3643610" cy="723156"/>
          </a:xfrm>
          <a:prstGeom prst="roundRect">
            <a:avLst>
              <a:gd name="adj" fmla="val 983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05792" y="1771501"/>
            <a:ext cx="473631" cy="113407"/>
          </a:xfrm>
          <a:prstGeom prst="roundRect">
            <a:avLst>
              <a:gd name="adj" fmla="val 25757"/>
            </a:avLst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5417939" y="1785342"/>
            <a:ext cx="37702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4910435" y="1914079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Resilience &amp; Observability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4910435" y="2071241"/>
            <a:ext cx="346387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 policies, circuit breaker, OpenTelemetry tracing, Prometheus metrics, Grafana dashboards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81525" y="2033364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5750" y="2661196"/>
            <a:ext cx="3643610" cy="723156"/>
          </a:xfrm>
          <a:prstGeom prst="roundRect">
            <a:avLst>
              <a:gd name="adj" fmla="val 983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4932" y="2757041"/>
            <a:ext cx="473631" cy="113407"/>
          </a:xfrm>
          <a:prstGeom prst="roundRect">
            <a:avLst>
              <a:gd name="adj" fmla="val 25757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917079" y="2770882"/>
            <a:ext cx="42319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</a:t>
            </a:r>
            <a:endParaRPr lang="en-US" sz="560" dirty="0"/>
          </a:p>
        </p:txBody>
      </p:sp>
      <p:sp>
        <p:nvSpPr>
          <p:cNvPr id="34" name="Text 32"/>
          <p:cNvSpPr/>
          <p:nvPr/>
        </p:nvSpPr>
        <p:spPr>
          <a:xfrm>
            <a:off x="409575" y="2899618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Frontend: Core Pages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09575" y="3056781"/>
            <a:ext cx="346387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app shell + Fluent UI layout, Dashboard with SignalR real-time updates, Validate Address page, Batch Validation page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919835" y="3018904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6610" y="2661196"/>
            <a:ext cx="3643610" cy="603498"/>
          </a:xfrm>
          <a:prstGeom prst="roundRect">
            <a:avLst>
              <a:gd name="adj" fmla="val 1178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05792" y="2757041"/>
            <a:ext cx="473631" cy="113407"/>
          </a:xfrm>
          <a:prstGeom prst="roundRect">
            <a:avLst>
              <a:gd name="adj" fmla="val 25757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2700000" scaled="1"/>
          </a:gra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5417939" y="2770882"/>
            <a:ext cx="46510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11–12</a:t>
            </a:r>
            <a:endParaRPr lang="en-US" sz="560" dirty="0"/>
          </a:p>
        </p:txBody>
      </p:sp>
      <p:sp>
        <p:nvSpPr>
          <p:cNvPr id="40" name="Text 38"/>
          <p:cNvSpPr/>
          <p:nvPr/>
        </p:nvSpPr>
        <p:spPr>
          <a:xfrm>
            <a:off x="4910435" y="2899618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Frontend: Operations Pages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4910435" y="3056781"/>
            <a:ext cx="37355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Management page, Audit Log viewer, Health &amp; Metrics dashboard, Settings page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581525" y="2959075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5750" y="3646736"/>
            <a:ext cx="3643610" cy="723156"/>
          </a:xfrm>
          <a:prstGeom prst="roundRect">
            <a:avLst>
              <a:gd name="adj" fmla="val 983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04932" y="3742581"/>
            <a:ext cx="473631" cy="113407"/>
          </a:xfrm>
          <a:prstGeom prst="roundRect">
            <a:avLst>
              <a:gd name="adj" fmla="val 25757"/>
            </a:avLst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560" dirty="0"/>
          </a:p>
        </p:txBody>
      </p:sp>
      <p:sp>
        <p:nvSpPr>
          <p:cNvPr id="45" name="Text 43"/>
          <p:cNvSpPr/>
          <p:nvPr/>
        </p:nvSpPr>
        <p:spPr>
          <a:xfrm>
            <a:off x="917079" y="3756422"/>
            <a:ext cx="46952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13–14</a:t>
            </a:r>
            <a:endParaRPr lang="en-US" sz="560" dirty="0"/>
          </a:p>
        </p:txBody>
      </p:sp>
      <p:sp>
        <p:nvSpPr>
          <p:cNvPr id="46" name="Text 44"/>
          <p:cNvSpPr/>
          <p:nvPr/>
        </p:nvSpPr>
        <p:spPr>
          <a:xfrm>
            <a:off x="409575" y="3885158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Event Sourcing &amp; Integration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409575" y="4042321"/>
            <a:ext cx="346387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 store, domain events, frontend-backend integration testing, Fluxor state management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919835" y="4004444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86610" y="3646736"/>
            <a:ext cx="3643610" cy="723156"/>
          </a:xfrm>
          <a:prstGeom prst="roundRect">
            <a:avLst>
              <a:gd name="adj" fmla="val 9835"/>
            </a:avLst>
          </a:prstGeom>
          <a:solidFill>
            <a:srgbClr val="1E293B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05792" y="3742581"/>
            <a:ext cx="473631" cy="113407"/>
          </a:xfrm>
          <a:prstGeom prst="roundRect">
            <a:avLst>
              <a:gd name="adj" fmla="val 25757"/>
            </a:avLst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560" dirty="0"/>
          </a:p>
        </p:txBody>
      </p:sp>
      <p:sp>
        <p:nvSpPr>
          <p:cNvPr id="51" name="Text 49"/>
          <p:cNvSpPr/>
          <p:nvPr/>
        </p:nvSpPr>
        <p:spPr>
          <a:xfrm>
            <a:off x="5417939" y="3756422"/>
            <a:ext cx="46952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15–16</a:t>
            </a:r>
            <a:endParaRPr lang="en-US" sz="560" dirty="0"/>
          </a:p>
        </p:txBody>
      </p:sp>
      <p:sp>
        <p:nvSpPr>
          <p:cNvPr id="52" name="Text 50"/>
          <p:cNvSpPr/>
          <p:nvPr/>
        </p:nvSpPr>
        <p:spPr>
          <a:xfrm>
            <a:off x="4910435" y="3885158"/>
            <a:ext cx="373555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Hardening &amp; Launch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4910435" y="4042321"/>
            <a:ext cx="346387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(k6), accessibility audit (WCAG 2.1 AA), security review, ACA deployment, production launch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581525" y="4004444"/>
            <a:ext cx="214610" cy="7590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126855" y="1000125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488805" y="1000125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126855" y="1927175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488805" y="1987004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126855" y="2972544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488805" y="2912715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126855" y="3958084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488805" y="3958084"/>
            <a:ext cx="100310" cy="10031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F172A"/>
            </a:solidFill>
          </a:ln>
          <a:effectLst>
            <a:outerShdw blurRad="57150" dist="50800" dir="16200000" algn="bl" rotWithShape="0">
              <a:srgbClr val="3B82F6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503884" y="4623941"/>
            <a:ext cx="128647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861346" y="4580186"/>
            <a:ext cx="156343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 kern="0" spc="6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16 WEEKS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5353645" y="4623941"/>
            <a:ext cx="128647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311" y="4919216"/>
            <a:ext cx="1179165" cy="961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216" y="376916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270" y="301377"/>
            <a:ext cx="2328496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Risks &amp; Mitigations</a:t>
            </a:r>
            <a:endParaRPr lang="en-US" sz="2030" dirty="0"/>
          </a:p>
        </p:txBody>
      </p:sp>
      <p:sp>
        <p:nvSpPr>
          <p:cNvPr id="5" name="Text 2"/>
          <p:cNvSpPr/>
          <p:nvPr/>
        </p:nvSpPr>
        <p:spPr>
          <a:xfrm>
            <a:off x="829270" y="629841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00050" y="808881"/>
            <a:ext cx="8343900" cy="465088"/>
          </a:xfrm>
          <a:prstGeom prst="roundRect">
            <a:avLst>
              <a:gd name="adj" fmla="val 1529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808881"/>
            <a:ext cx="28575" cy="465088"/>
          </a:xfrm>
          <a:custGeom>
            <a:avLst/>
            <a:gdLst/>
            <a:ahLst/>
            <a:cxnLst/>
            <a:rect l="l" t="t" r="r" b="b"/>
            <a:pathLst>
              <a:path w="28575" h="46508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450959"/>
                </a:lnTo>
                <a:lnTo>
                  <a:pt x="25003" y="448109"/>
                </a:lnTo>
                <a:lnTo>
                  <a:pt x="21431" y="444851"/>
                </a:lnTo>
                <a:lnTo>
                  <a:pt x="17859" y="441099"/>
                </a:lnTo>
                <a:lnTo>
                  <a:pt x="14288" y="436724"/>
                </a:lnTo>
                <a:lnTo>
                  <a:pt x="10716" y="431509"/>
                </a:lnTo>
                <a:lnTo>
                  <a:pt x="7144" y="425034"/>
                </a:lnTo>
                <a:lnTo>
                  <a:pt x="3572" y="416223"/>
                </a:lnTo>
                <a:lnTo>
                  <a:pt x="0" y="393968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6766" y="89520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283" y="957718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846" y="903982"/>
            <a:ext cx="121375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Smarty API Downtime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2089249" y="895201"/>
            <a:ext cx="353764" cy="160273"/>
          </a:xfrm>
          <a:prstGeom prst="roundRect">
            <a:avLst>
              <a:gd name="adj" fmla="val 89541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20" dirty="0"/>
          </a:p>
        </p:txBody>
      </p:sp>
      <p:sp>
        <p:nvSpPr>
          <p:cNvPr id="12" name="Text 8"/>
          <p:cNvSpPr/>
          <p:nvPr/>
        </p:nvSpPr>
        <p:spPr>
          <a:xfrm>
            <a:off x="914846" y="1062484"/>
            <a:ext cx="847105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 breaker pattern (Polly) + CosmosDB stale cache fallback with staleness indicator returned to consumers.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400050" y="1338709"/>
            <a:ext cx="8343900" cy="465981"/>
          </a:xfrm>
          <a:prstGeom prst="roundRect">
            <a:avLst>
              <a:gd name="adj" fmla="val 1526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0050" y="1338709"/>
            <a:ext cx="28575" cy="465981"/>
          </a:xfrm>
          <a:custGeom>
            <a:avLst/>
            <a:gdLst/>
            <a:ahLst/>
            <a:cxnLst/>
            <a:rect l="l" t="t" r="r" b="b"/>
            <a:pathLst>
              <a:path w="28575" h="465981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451852"/>
                </a:lnTo>
                <a:lnTo>
                  <a:pt x="25003" y="449002"/>
                </a:lnTo>
                <a:lnTo>
                  <a:pt x="21431" y="445744"/>
                </a:lnTo>
                <a:lnTo>
                  <a:pt x="17859" y="441992"/>
                </a:lnTo>
                <a:lnTo>
                  <a:pt x="14288" y="437617"/>
                </a:lnTo>
                <a:lnTo>
                  <a:pt x="10716" y="432402"/>
                </a:lnTo>
                <a:lnTo>
                  <a:pt x="7144" y="425927"/>
                </a:lnTo>
                <a:lnTo>
                  <a:pt x="3572" y="417116"/>
                </a:lnTo>
                <a:lnTo>
                  <a:pt x="0" y="394861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6766" y="142502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283" y="1487546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846" y="1433810"/>
            <a:ext cx="141348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CosmosDB Cost Overrun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2270820" y="1425029"/>
            <a:ext cx="483543" cy="160273"/>
          </a:xfrm>
          <a:prstGeom prst="roundRect">
            <a:avLst>
              <a:gd name="adj" fmla="val 89541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914846" y="1592312"/>
            <a:ext cx="8471059" cy="126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Auto-scale RU/s (400–4,000), partition key optimization (</a:t>
            </a:r>
            <a:r>
              <a:rPr lang="en-US" sz="680" dirty="0">
                <a:solidFill>
                  <a:srgbClr val="93C5FD"/>
                </a:solidFill>
                <a:highlight>
                  <a:srgbClr val="3B82F6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/stateCode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TTL-based expiration at 90 days.</a:t>
            </a:r>
            <a:endParaRPr lang="en-US" sz="730" dirty="0"/>
          </a:p>
        </p:txBody>
      </p:sp>
      <p:sp>
        <p:nvSpPr>
          <p:cNvPr id="20" name="Text 15"/>
          <p:cNvSpPr/>
          <p:nvPr/>
        </p:nvSpPr>
        <p:spPr>
          <a:xfrm>
            <a:off x="400050" y="1869430"/>
            <a:ext cx="8343900" cy="465088"/>
          </a:xfrm>
          <a:prstGeom prst="roundRect">
            <a:avLst>
              <a:gd name="adj" fmla="val 1529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00050" y="1869430"/>
            <a:ext cx="28575" cy="465088"/>
          </a:xfrm>
          <a:custGeom>
            <a:avLst/>
            <a:gdLst/>
            <a:ahLst/>
            <a:cxnLst/>
            <a:rect l="l" t="t" r="r" b="b"/>
            <a:pathLst>
              <a:path w="28575" h="46508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450959"/>
                </a:lnTo>
                <a:lnTo>
                  <a:pt x="25003" y="448109"/>
                </a:lnTo>
                <a:lnTo>
                  <a:pt x="21431" y="444851"/>
                </a:lnTo>
                <a:lnTo>
                  <a:pt x="17859" y="441099"/>
                </a:lnTo>
                <a:lnTo>
                  <a:pt x="14288" y="436724"/>
                </a:lnTo>
                <a:lnTo>
                  <a:pt x="10716" y="431509"/>
                </a:lnTo>
                <a:lnTo>
                  <a:pt x="7144" y="425034"/>
                </a:lnTo>
                <a:lnTo>
                  <a:pt x="3572" y="416223"/>
                </a:lnTo>
                <a:lnTo>
                  <a:pt x="0" y="393968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56766" y="195575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283" y="2018267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846" y="1964531"/>
            <a:ext cx="170013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 Complexity</a:t>
            </a:r>
            <a:endParaRPr lang="en-US" sz="840" dirty="0"/>
          </a:p>
        </p:txBody>
      </p:sp>
      <p:sp>
        <p:nvSpPr>
          <p:cNvPr id="25" name="Text 19"/>
          <p:cNvSpPr/>
          <p:nvPr/>
        </p:nvSpPr>
        <p:spPr>
          <a:xfrm>
            <a:off x="2531418" y="1955750"/>
            <a:ext cx="483543" cy="160273"/>
          </a:xfrm>
          <a:prstGeom prst="roundRect">
            <a:avLst>
              <a:gd name="adj" fmla="val 89541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20" dirty="0"/>
          </a:p>
        </p:txBody>
      </p:sp>
      <p:sp>
        <p:nvSpPr>
          <p:cNvPr id="26" name="Text 20"/>
          <p:cNvSpPr/>
          <p:nvPr/>
        </p:nvSpPr>
        <p:spPr>
          <a:xfrm>
            <a:off x="914846" y="2123033"/>
            <a:ext cx="847105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TTL-based expiration (Redis 1 hr / CosmosDB 90 days), manual invalidation endpoints, and cache stats monitoring dashboard.</a:t>
            </a:r>
            <a:endParaRPr lang="en-US" sz="730" dirty="0"/>
          </a:p>
        </p:txBody>
      </p:sp>
      <p:sp>
        <p:nvSpPr>
          <p:cNvPr id="27" name="Text 21"/>
          <p:cNvSpPr/>
          <p:nvPr/>
        </p:nvSpPr>
        <p:spPr>
          <a:xfrm>
            <a:off x="400050" y="2399258"/>
            <a:ext cx="8343900" cy="465088"/>
          </a:xfrm>
          <a:prstGeom prst="roundRect">
            <a:avLst>
              <a:gd name="adj" fmla="val 1529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00050" y="2399258"/>
            <a:ext cx="28575" cy="465088"/>
          </a:xfrm>
          <a:custGeom>
            <a:avLst/>
            <a:gdLst/>
            <a:ahLst/>
            <a:cxnLst/>
            <a:rect l="l" t="t" r="r" b="b"/>
            <a:pathLst>
              <a:path w="28575" h="46508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450959"/>
                </a:lnTo>
                <a:lnTo>
                  <a:pt x="25003" y="448109"/>
                </a:lnTo>
                <a:lnTo>
                  <a:pt x="21431" y="444851"/>
                </a:lnTo>
                <a:lnTo>
                  <a:pt x="17859" y="441099"/>
                </a:lnTo>
                <a:lnTo>
                  <a:pt x="14288" y="436724"/>
                </a:lnTo>
                <a:lnTo>
                  <a:pt x="10716" y="431509"/>
                </a:lnTo>
                <a:lnTo>
                  <a:pt x="7144" y="425034"/>
                </a:lnTo>
                <a:lnTo>
                  <a:pt x="3572" y="416223"/>
                </a:lnTo>
                <a:lnTo>
                  <a:pt x="0" y="393968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56766" y="248557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283" y="2548095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4846" y="2494359"/>
            <a:ext cx="1602075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Connection Stability</a:t>
            </a:r>
            <a:endParaRPr lang="en-US" sz="840" dirty="0"/>
          </a:p>
        </p:txBody>
      </p:sp>
      <p:sp>
        <p:nvSpPr>
          <p:cNvPr id="32" name="Text 25"/>
          <p:cNvSpPr/>
          <p:nvPr/>
        </p:nvSpPr>
        <p:spPr>
          <a:xfrm>
            <a:off x="2442270" y="2485579"/>
            <a:ext cx="483543" cy="160273"/>
          </a:xfrm>
          <a:prstGeom prst="roundRect">
            <a:avLst>
              <a:gd name="adj" fmla="val 89541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20" dirty="0"/>
          </a:p>
        </p:txBody>
      </p:sp>
      <p:sp>
        <p:nvSpPr>
          <p:cNvPr id="33" name="Text 26"/>
          <p:cNvSpPr/>
          <p:nvPr/>
        </p:nvSpPr>
        <p:spPr>
          <a:xfrm>
            <a:off x="914846" y="2652861"/>
            <a:ext cx="847105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 reconnection with exponential backoff, FluentMessageBar reconnection indicator, and graceful degradation to manual refresh.</a:t>
            </a:r>
            <a:endParaRPr lang="en-US" sz="730" dirty="0"/>
          </a:p>
        </p:txBody>
      </p:sp>
      <p:sp>
        <p:nvSpPr>
          <p:cNvPr id="34" name="Text 27"/>
          <p:cNvSpPr/>
          <p:nvPr/>
        </p:nvSpPr>
        <p:spPr>
          <a:xfrm>
            <a:off x="400050" y="2929086"/>
            <a:ext cx="8343900" cy="465981"/>
          </a:xfrm>
          <a:prstGeom prst="roundRect">
            <a:avLst>
              <a:gd name="adj" fmla="val 1526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400050" y="2929086"/>
            <a:ext cx="28575" cy="465981"/>
          </a:xfrm>
          <a:custGeom>
            <a:avLst/>
            <a:gdLst/>
            <a:ahLst/>
            <a:cxnLst/>
            <a:rect l="l" t="t" r="r" b="b"/>
            <a:pathLst>
              <a:path w="28575" h="465981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451852"/>
                </a:lnTo>
                <a:lnTo>
                  <a:pt x="25003" y="449002"/>
                </a:lnTo>
                <a:lnTo>
                  <a:pt x="21431" y="445744"/>
                </a:lnTo>
                <a:lnTo>
                  <a:pt x="17859" y="441992"/>
                </a:lnTo>
                <a:lnTo>
                  <a:pt x="14288" y="437617"/>
                </a:lnTo>
                <a:lnTo>
                  <a:pt x="10716" y="432402"/>
                </a:lnTo>
                <a:lnTo>
                  <a:pt x="7144" y="425927"/>
                </a:lnTo>
                <a:lnTo>
                  <a:pt x="3572" y="417116"/>
                </a:lnTo>
                <a:lnTo>
                  <a:pt x="0" y="394861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556766" y="3015407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283" y="3077923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4846" y="3024188"/>
            <a:ext cx="84671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840" dirty="0"/>
          </a:p>
        </p:txBody>
      </p:sp>
      <p:sp>
        <p:nvSpPr>
          <p:cNvPr id="39" name="Text 31"/>
          <p:cNvSpPr/>
          <p:nvPr/>
        </p:nvSpPr>
        <p:spPr>
          <a:xfrm>
            <a:off x="1755577" y="3015407"/>
            <a:ext cx="336798" cy="160273"/>
          </a:xfrm>
          <a:prstGeom prst="roundRect">
            <a:avLst>
              <a:gd name="adj" fmla="val 89541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20" dirty="0"/>
          </a:p>
        </p:txBody>
      </p:sp>
      <p:sp>
        <p:nvSpPr>
          <p:cNvPr id="40" name="Text 32"/>
          <p:cNvSpPr/>
          <p:nvPr/>
        </p:nvSpPr>
        <p:spPr>
          <a:xfrm>
            <a:off x="914846" y="3182689"/>
            <a:ext cx="8471059" cy="1260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93C5FD"/>
                </a:solidFill>
                <a:highlight>
                  <a:srgbClr val="3B82F6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IAddressValidationProvider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abstraction layer enables seamless provider swap without core changes.</a:t>
            </a:r>
            <a:endParaRPr lang="en-US" sz="730" dirty="0"/>
          </a:p>
        </p:txBody>
      </p:sp>
      <p:sp>
        <p:nvSpPr>
          <p:cNvPr id="41" name="Text 33"/>
          <p:cNvSpPr/>
          <p:nvPr/>
        </p:nvSpPr>
        <p:spPr>
          <a:xfrm>
            <a:off x="400050" y="3459807"/>
            <a:ext cx="8343900" cy="465088"/>
          </a:xfrm>
          <a:prstGeom prst="roundRect">
            <a:avLst>
              <a:gd name="adj" fmla="val 15292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00050" y="3459807"/>
            <a:ext cx="28575" cy="465088"/>
          </a:xfrm>
          <a:custGeom>
            <a:avLst/>
            <a:gdLst/>
            <a:ahLst/>
            <a:cxnLst/>
            <a:rect l="l" t="t" r="r" b="b"/>
            <a:pathLst>
              <a:path w="28575" h="46508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450959"/>
                </a:lnTo>
                <a:lnTo>
                  <a:pt x="25003" y="448109"/>
                </a:lnTo>
                <a:lnTo>
                  <a:pt x="21431" y="444851"/>
                </a:lnTo>
                <a:lnTo>
                  <a:pt x="17859" y="441099"/>
                </a:lnTo>
                <a:lnTo>
                  <a:pt x="14288" y="436724"/>
                </a:lnTo>
                <a:lnTo>
                  <a:pt x="10716" y="431509"/>
                </a:lnTo>
                <a:lnTo>
                  <a:pt x="7144" y="425034"/>
                </a:lnTo>
                <a:lnTo>
                  <a:pt x="3572" y="416223"/>
                </a:lnTo>
                <a:lnTo>
                  <a:pt x="0" y="393968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556766" y="3546128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283" y="3608644"/>
            <a:ext cx="132588" cy="1325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14846" y="3554909"/>
            <a:ext cx="149811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 Fragmentation</a:t>
            </a:r>
            <a:endParaRPr lang="en-US" sz="840" dirty="0"/>
          </a:p>
        </p:txBody>
      </p:sp>
      <p:sp>
        <p:nvSpPr>
          <p:cNvPr id="46" name="Text 37"/>
          <p:cNvSpPr/>
          <p:nvPr/>
        </p:nvSpPr>
        <p:spPr>
          <a:xfrm>
            <a:off x="2347764" y="3546128"/>
            <a:ext cx="336798" cy="160273"/>
          </a:xfrm>
          <a:prstGeom prst="roundRect">
            <a:avLst>
              <a:gd name="adj" fmla="val 89541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20" dirty="0"/>
          </a:p>
        </p:txBody>
      </p:sp>
      <p:sp>
        <p:nvSpPr>
          <p:cNvPr id="47" name="Text 38"/>
          <p:cNvSpPr/>
          <p:nvPr/>
        </p:nvSpPr>
        <p:spPr>
          <a:xfrm>
            <a:off x="914846" y="3713411"/>
            <a:ext cx="847105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 2 active versions supported concurrently; deprecation policy enforces a 6-month sunset window for retired versions.</a:t>
            </a:r>
            <a:endParaRPr lang="en-US" sz="730" dirty="0"/>
          </a:p>
        </p:txBody>
      </p:sp>
      <p:sp>
        <p:nvSpPr>
          <p:cNvPr id="48" name="Text 39"/>
          <p:cNvSpPr/>
          <p:nvPr/>
        </p:nvSpPr>
        <p:spPr>
          <a:xfrm>
            <a:off x="400050" y="4704904"/>
            <a:ext cx="8343900" cy="9525"/>
          </a:xfrm>
          <a:prstGeom prst="rect">
            <a:avLst/>
          </a:prstGeom>
          <a:solidFill>
            <a:srgbClr val="94A3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400050" y="4785420"/>
            <a:ext cx="5359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680" dirty="0"/>
          </a:p>
        </p:txBody>
      </p:sp>
      <p:sp>
        <p:nvSpPr>
          <p:cNvPr id="50" name="Text 41"/>
          <p:cNvSpPr/>
          <p:nvPr/>
        </p:nvSpPr>
        <p:spPr>
          <a:xfrm>
            <a:off x="1058763" y="4814590"/>
            <a:ext cx="70991" cy="7099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1172914" y="4785420"/>
            <a:ext cx="19498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80" dirty="0"/>
          </a:p>
        </p:txBody>
      </p:sp>
      <p:sp>
        <p:nvSpPr>
          <p:cNvPr id="52" name="Text 43"/>
          <p:cNvSpPr/>
          <p:nvPr/>
        </p:nvSpPr>
        <p:spPr>
          <a:xfrm>
            <a:off x="1521619" y="4814590"/>
            <a:ext cx="70991" cy="7099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1635770" y="4785420"/>
            <a:ext cx="33724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80" dirty="0"/>
          </a:p>
        </p:txBody>
      </p:sp>
      <p:sp>
        <p:nvSpPr>
          <p:cNvPr id="54" name="Text 45"/>
          <p:cNvSpPr/>
          <p:nvPr/>
        </p:nvSpPr>
        <p:spPr>
          <a:xfrm>
            <a:off x="2113806" y="4814590"/>
            <a:ext cx="70991" cy="70991"/>
          </a:xfrm>
          <a:prstGeom prst="ellipse">
            <a:avLst/>
          </a:prstGeom>
          <a:solidFill>
            <a:srgbClr val="22C5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2227957" y="4785420"/>
            <a:ext cx="17402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4470" y="0"/>
            <a:ext cx="999530" cy="999530"/>
          </a:xfrm>
          <a:prstGeom prst="ellipse">
            <a:avLst/>
          </a:prstGeom>
          <a:gradFill rotWithShape="1">
            <a:gsLst>
              <a:gs pos="0">
                <a:srgbClr val="3B82F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857030"/>
            <a:ext cx="1572220" cy="1286470"/>
          </a:xfrm>
          <a:prstGeom prst="ellipse">
            <a:avLst/>
          </a:prstGeom>
          <a:gradFill rotWithShape="1">
            <a:gsLst>
              <a:gs pos="0">
                <a:srgbClr val="3B82F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283940"/>
            <a:ext cx="571500" cy="35421"/>
          </a:xfrm>
          <a:prstGeom prst="roundRect">
            <a:avLst>
              <a:gd name="adj" fmla="val 60953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90811"/>
            <a:ext cx="2593431" cy="1133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3"/>
              </a:lnSpc>
              <a:spcAft>
                <a:spcPts val="790"/>
              </a:spcAft>
              <a:buNone/>
            </a:pPr>
            <a:r>
              <a:rPr lang="en-US" sz="4050" kern="0" spc="-8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Let's</a:t>
            </a:r>
            <a:br/>
            <a:r>
              <a:rPr lang="en-US" sz="4050" kern="0" spc="-8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It</a:t>
            </a:r>
            <a:r>
              <a:rPr lang="en-US" sz="4050" b="1" kern="0" spc="-8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457200" y="2671018"/>
            <a:ext cx="2593431" cy="404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1130"/>
              </a:spcAft>
              <a:buNone/>
            </a:pPr>
            <a:r>
              <a:rPr lang="en-US" sz="101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Immediate action items to launch the Address Validation Proxy Service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457200" y="3199358"/>
            <a:ext cx="2542580" cy="274290"/>
          </a:xfrm>
          <a:prstGeom prst="roundRect">
            <a:avLst>
              <a:gd name="adj" fmla="val 20836"/>
            </a:avLst>
          </a:prstGeom>
          <a:solidFill>
            <a:srgbClr val="1E293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069" y="3270135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216" y="3256508"/>
            <a:ext cx="110128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weeks / 8 sprints</a:t>
            </a:r>
            <a:endParaRPr lang="en-US" sz="84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645098"/>
            <a:ext cx="214313" cy="214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7833" y="3716685"/>
            <a:ext cx="70991" cy="70991"/>
          </a:xfrm>
          <a:prstGeom prst="ellipse">
            <a:avLst/>
          </a:prstGeom>
          <a:solidFill>
            <a:srgbClr val="3B82F6"/>
          </a:solidFill>
          <a:ln/>
          <a:effectLst>
            <a:outerShdw blurRad="86360" dist="50800" dir="16200000" algn="bl" rotWithShape="0">
              <a:srgbClr val="3B82F6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314700" y="1043136"/>
            <a:ext cx="5372100" cy="464790"/>
          </a:xfrm>
          <a:prstGeom prst="roundRect">
            <a:avLst>
              <a:gd name="adj" fmla="val 1858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314700" y="1043136"/>
            <a:ext cx="28575" cy="464790"/>
          </a:xfrm>
          <a:custGeom>
            <a:avLst/>
            <a:gdLst/>
            <a:ahLst/>
            <a:cxnLst/>
            <a:rect l="l" t="t" r="r" b="b"/>
            <a:pathLst>
              <a:path w="28575" h="46479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442609"/>
                </a:lnTo>
                <a:lnTo>
                  <a:pt x="25003" y="439203"/>
                </a:lnTo>
                <a:lnTo>
                  <a:pt x="21431" y="435371"/>
                </a:lnTo>
                <a:lnTo>
                  <a:pt x="17859" y="431020"/>
                </a:lnTo>
                <a:lnTo>
                  <a:pt x="14288" y="426008"/>
                </a:lnTo>
                <a:lnTo>
                  <a:pt x="10716" y="420095"/>
                </a:lnTo>
                <a:lnTo>
                  <a:pt x="7144" y="412823"/>
                </a:lnTo>
                <a:lnTo>
                  <a:pt x="3572" y="403010"/>
                </a:lnTo>
                <a:lnTo>
                  <a:pt x="0" y="37843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486745" y="1129457"/>
            <a:ext cx="228600" cy="25146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3829645" y="1129457"/>
            <a:ext cx="3053209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SRS v2.1 &amp; Design Spec Review &amp; Sign-off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933974" y="1291828"/>
            <a:ext cx="92644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May 9, 2026</a:t>
            </a:r>
            <a:endParaRPr lang="en-US" sz="73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0930" y="1297046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14700" y="1594247"/>
            <a:ext cx="5372100" cy="464790"/>
          </a:xfrm>
          <a:prstGeom prst="roundRect">
            <a:avLst>
              <a:gd name="adj" fmla="val 1858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314700" y="1594247"/>
            <a:ext cx="28575" cy="464790"/>
          </a:xfrm>
          <a:custGeom>
            <a:avLst/>
            <a:gdLst/>
            <a:ahLst/>
            <a:cxnLst/>
            <a:rect l="l" t="t" r="r" b="b"/>
            <a:pathLst>
              <a:path w="28575" h="46479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442609"/>
                </a:lnTo>
                <a:lnTo>
                  <a:pt x="25003" y="439203"/>
                </a:lnTo>
                <a:lnTo>
                  <a:pt x="21431" y="435371"/>
                </a:lnTo>
                <a:lnTo>
                  <a:pt x="17859" y="431020"/>
                </a:lnTo>
                <a:lnTo>
                  <a:pt x="14288" y="426008"/>
                </a:lnTo>
                <a:lnTo>
                  <a:pt x="10716" y="420095"/>
                </a:lnTo>
                <a:lnTo>
                  <a:pt x="7144" y="412823"/>
                </a:lnTo>
                <a:lnTo>
                  <a:pt x="3572" y="403010"/>
                </a:lnTo>
                <a:lnTo>
                  <a:pt x="0" y="37843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486745" y="1680567"/>
            <a:ext cx="228600" cy="25146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3829645" y="1680567"/>
            <a:ext cx="2743632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Azure Resources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933974" y="1842939"/>
            <a:ext cx="262887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CosmosDB · Redis · ACA environment for API + Frontend</a:t>
            </a:r>
            <a:endParaRPr lang="en-US" sz="73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0930" y="1848157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314700" y="2145357"/>
            <a:ext cx="5372100" cy="464790"/>
          </a:xfrm>
          <a:prstGeom prst="roundRect">
            <a:avLst>
              <a:gd name="adj" fmla="val 1858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314700" y="2145357"/>
            <a:ext cx="28575" cy="464790"/>
          </a:xfrm>
          <a:custGeom>
            <a:avLst/>
            <a:gdLst/>
            <a:ahLst/>
            <a:cxnLst/>
            <a:rect l="l" t="t" r="r" b="b"/>
            <a:pathLst>
              <a:path w="28575" h="46479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442609"/>
                </a:lnTo>
                <a:lnTo>
                  <a:pt x="25003" y="439203"/>
                </a:lnTo>
                <a:lnTo>
                  <a:pt x="21431" y="435371"/>
                </a:lnTo>
                <a:lnTo>
                  <a:pt x="17859" y="431020"/>
                </a:lnTo>
                <a:lnTo>
                  <a:pt x="14288" y="426008"/>
                </a:lnTo>
                <a:lnTo>
                  <a:pt x="10716" y="420095"/>
                </a:lnTo>
                <a:lnTo>
                  <a:pt x="7144" y="412823"/>
                </a:lnTo>
                <a:lnTo>
                  <a:pt x="3572" y="403010"/>
                </a:lnTo>
                <a:lnTo>
                  <a:pt x="0" y="37843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3486745" y="2231678"/>
            <a:ext cx="228600" cy="25146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27" name="Text 21"/>
          <p:cNvSpPr/>
          <p:nvPr/>
        </p:nvSpPr>
        <p:spPr>
          <a:xfrm>
            <a:off x="3829645" y="2231678"/>
            <a:ext cx="3308107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Kick-off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3933974" y="2394049"/>
            <a:ext cx="319334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Aspire scaffolding with API + Blazor frontend projects &amp; CI/CD pipeline</a:t>
            </a:r>
            <a:endParaRPr lang="en-US" sz="73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0930" y="2399267"/>
            <a:ext cx="132588" cy="132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14700" y="2696468"/>
            <a:ext cx="5372100" cy="464790"/>
          </a:xfrm>
          <a:prstGeom prst="roundRect">
            <a:avLst>
              <a:gd name="adj" fmla="val 1858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314700" y="2696468"/>
            <a:ext cx="28575" cy="464790"/>
          </a:xfrm>
          <a:custGeom>
            <a:avLst/>
            <a:gdLst/>
            <a:ahLst/>
            <a:cxnLst/>
            <a:rect l="l" t="t" r="r" b="b"/>
            <a:pathLst>
              <a:path w="28575" h="46479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442609"/>
                </a:lnTo>
                <a:lnTo>
                  <a:pt x="25003" y="439203"/>
                </a:lnTo>
                <a:lnTo>
                  <a:pt x="21431" y="435371"/>
                </a:lnTo>
                <a:lnTo>
                  <a:pt x="17859" y="431020"/>
                </a:lnTo>
                <a:lnTo>
                  <a:pt x="14288" y="426008"/>
                </a:lnTo>
                <a:lnTo>
                  <a:pt x="10716" y="420095"/>
                </a:lnTo>
                <a:lnTo>
                  <a:pt x="7144" y="412823"/>
                </a:lnTo>
                <a:lnTo>
                  <a:pt x="3572" y="403010"/>
                </a:lnTo>
                <a:lnTo>
                  <a:pt x="0" y="37843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486745" y="2782788"/>
            <a:ext cx="228600" cy="25146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sp>
        <p:nvSpPr>
          <p:cNvPr id="33" name="Text 26"/>
          <p:cNvSpPr/>
          <p:nvPr/>
        </p:nvSpPr>
        <p:spPr>
          <a:xfrm>
            <a:off x="3829645" y="2782788"/>
            <a:ext cx="320546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Interactive UI Mockups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933974" y="2945160"/>
            <a:ext cx="3090699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frontend design for address lookup &amp; batch validation flows</a:t>
            </a:r>
            <a:endParaRPr lang="en-US" sz="73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00930" y="2950378"/>
            <a:ext cx="132588" cy="132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314700" y="3247579"/>
            <a:ext cx="5372100" cy="464790"/>
          </a:xfrm>
          <a:prstGeom prst="roundRect">
            <a:avLst>
              <a:gd name="adj" fmla="val 18580"/>
            </a:avLst>
          </a:prstGeom>
          <a:solidFill>
            <a:srgbClr val="1E293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3314700" y="3247579"/>
            <a:ext cx="28575" cy="464790"/>
          </a:xfrm>
          <a:custGeom>
            <a:avLst/>
            <a:gdLst/>
            <a:ahLst/>
            <a:cxnLst/>
            <a:rect l="l" t="t" r="r" b="b"/>
            <a:pathLst>
              <a:path w="28575" h="46479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442609"/>
                </a:lnTo>
                <a:lnTo>
                  <a:pt x="25003" y="439203"/>
                </a:lnTo>
                <a:lnTo>
                  <a:pt x="21431" y="435371"/>
                </a:lnTo>
                <a:lnTo>
                  <a:pt x="17859" y="431020"/>
                </a:lnTo>
                <a:lnTo>
                  <a:pt x="14288" y="426008"/>
                </a:lnTo>
                <a:lnTo>
                  <a:pt x="10716" y="420095"/>
                </a:lnTo>
                <a:lnTo>
                  <a:pt x="7144" y="412823"/>
                </a:lnTo>
                <a:lnTo>
                  <a:pt x="3572" y="403010"/>
                </a:lnTo>
                <a:lnTo>
                  <a:pt x="0" y="37843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486745" y="3333899"/>
            <a:ext cx="228600" cy="25146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" dirty="0"/>
          </a:p>
        </p:txBody>
      </p:sp>
      <p:sp>
        <p:nvSpPr>
          <p:cNvPr id="39" name="Text 31"/>
          <p:cNvSpPr/>
          <p:nvPr/>
        </p:nvSpPr>
        <p:spPr>
          <a:xfrm>
            <a:off x="3829645" y="3333899"/>
            <a:ext cx="2334027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 Architecture Reviews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3933974" y="3496270"/>
            <a:ext cx="208862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sessions with the engineering team</a:t>
            </a:r>
            <a:endParaRPr lang="en-US" sz="73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00930" y="3501488"/>
            <a:ext cx="132588" cy="132588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3227" y="3926244"/>
            <a:ext cx="132588" cy="132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44852" y="3885009"/>
            <a:ext cx="18875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 Let's discuss.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771373C400D04E913C0BC74273488F" ma:contentTypeVersion="17" ma:contentTypeDescription="Create a new document." ma:contentTypeScope="" ma:versionID="3297d792cab1f09eabcb61327bac6217">
  <xsd:schema xmlns:xsd="http://www.w3.org/2001/XMLSchema" xmlns:xs="http://www.w3.org/2001/XMLSchema" xmlns:p="http://schemas.microsoft.com/office/2006/metadata/properties" xmlns:ns2="e16ee73a-85c5-4cc1-988e-52b2aa9e225a" xmlns:ns3="f4ce5bd4-be60-42cb-b5a1-8be6c756578b" targetNamespace="http://schemas.microsoft.com/office/2006/metadata/properties" ma:root="true" ma:fieldsID="97b0dcf5d7f98f1da580cd9e46d52a9d" ns2:_="" ns3:_="">
    <xsd:import namespace="e16ee73a-85c5-4cc1-988e-52b2aa9e225a"/>
    <xsd:import namespace="f4ce5bd4-be60-42cb-b5a1-8be6c75657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ee73a-85c5-4cc1-988e-52b2aa9e22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25d3d15-dbe2-40e8-b939-a8334f2c7f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e5bd4-be60-42cb-b5a1-8be6c756578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2f1a454-7a7b-4481-89a9-6fda49f52e5d}" ma:internalName="TaxCatchAll" ma:showField="CatchAllData" ma:web="f4ce5bd4-be60-42cb-b5a1-8be6c75657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ce5bd4-be60-42cb-b5a1-8be6c756578b" xsi:nil="true"/>
    <lcf76f155ced4ddcb4097134ff3c332f xmlns="e16ee73a-85c5-4cc1-988e-52b2aa9e22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BFE0A35-A9C6-4DC6-9F06-E89945E3BDF0}"/>
</file>

<file path=customXml/itemProps2.xml><?xml version="1.0" encoding="utf-8"?>
<ds:datastoreItem xmlns:ds="http://schemas.openxmlformats.org/officeDocument/2006/customXml" ds:itemID="{B0DB8063-C0FC-4E65-8845-404C46529C87}"/>
</file>

<file path=customXml/itemProps3.xml><?xml version="1.0" encoding="utf-8"?>
<ds:datastoreItem xmlns:ds="http://schemas.openxmlformats.org/officeDocument/2006/customXml" ds:itemID="{35C44A92-C306-4550-AD45-91F21CCDA91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1404</Words>
  <Application>Microsoft Office PowerPoint</Application>
  <PresentationFormat>On-screen Show (16:9)</PresentationFormat>
  <Paragraphs>260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Alex Khorozov</cp:lastModifiedBy>
  <cp:revision>2</cp:revision>
  <dcterms:created xsi:type="dcterms:W3CDTF">2026-05-06T13:16:41Z</dcterms:created>
  <dcterms:modified xsi:type="dcterms:W3CDTF">2026-05-06T13:18:56Z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0x0101004D771373C400D04E913C0BC74273488F</vt:lpwstr>
  </property>
</Properties>
</file>